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493776" cy="493776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21207"/>
            <a:ext cx="493776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PingFang SC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" y="658368"/>
            <a:ext cx="201168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ourier New"/>
              </a:rPr>
              <a:t>AGENTRIG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15400" y="612648"/>
            <a:ext cx="2514600" cy="274320"/>
          </a:xfrm>
          <a:prstGeom prst="roundRect">
            <a:avLst>
              <a:gd name="adj" fmla="val 8000"/>
            </a:avLst>
          </a:prstGeom>
          <a:solidFill>
            <a:srgbClr val="252927"/>
          </a:solidFill>
          <a:ln w="8890">
            <a:solidFill>
              <a:srgbClr val="3439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15400" y="621792"/>
            <a:ext cx="2514600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BFC5C1"/>
                </a:solidFill>
                <a:latin typeface="Courier New"/>
              </a:rPr>
              <a:t>GOAI 2026 · AGENT INFRA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47088"/>
            <a:ext cx="8138160" cy="1417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PingFang SC"/>
              </a:rPr>
              <a:t>让企业 Agent 的每次变化
都有证据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3474720"/>
            <a:ext cx="585216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>
                <a:solidFill>
                  <a:srgbClr val="BFC5C1"/>
                </a:solidFill>
                <a:latin typeface="PingFang SC"/>
              </a:rPr>
              <a:t>多 Agent 可审计评测基础设施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4069080"/>
            <a:ext cx="694944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8E9691"/>
                </a:solidFill>
                <a:latin typeface="PingFang SC"/>
              </a:rPr>
              <a:t>AgentTeams 负责协作，AgentRig 负责事实、验证与审计。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4846320"/>
            <a:ext cx="1298448" cy="274320"/>
          </a:xfrm>
          <a:prstGeom prst="roundRect">
            <a:avLst>
              <a:gd name="adj" fmla="val 8000"/>
            </a:avLst>
          </a:prstGeom>
          <a:solidFill>
            <a:srgbClr val="252927"/>
          </a:solidFill>
          <a:ln w="8890">
            <a:solidFill>
              <a:srgbClr val="3439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4855464"/>
            <a:ext cx="1298448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BFC5C1"/>
                </a:solidFill>
                <a:latin typeface="Courier New"/>
              </a:rPr>
              <a:t>AGENTTEAMS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57400" y="4846320"/>
            <a:ext cx="603504" cy="274320"/>
          </a:xfrm>
          <a:prstGeom prst="roundRect">
            <a:avLst>
              <a:gd name="adj" fmla="val 8000"/>
            </a:avLst>
          </a:prstGeom>
          <a:solidFill>
            <a:srgbClr val="252927"/>
          </a:solidFill>
          <a:ln w="8890">
            <a:solidFill>
              <a:srgbClr val="3439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57400" y="4855464"/>
            <a:ext cx="603504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BFC5C1"/>
                </a:solidFill>
                <a:latin typeface="Courier New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16352" y="4846320"/>
            <a:ext cx="1261872" cy="274320"/>
          </a:xfrm>
          <a:prstGeom prst="roundRect">
            <a:avLst>
              <a:gd name="adj" fmla="val 8000"/>
            </a:avLst>
          </a:prstGeom>
          <a:solidFill>
            <a:srgbClr val="252927"/>
          </a:solidFill>
          <a:ln w="8890">
            <a:solidFill>
              <a:srgbClr val="3439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16352" y="4855464"/>
            <a:ext cx="1261872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BFC5C1"/>
                </a:solidFill>
                <a:latin typeface="Courier New"/>
              </a:rPr>
              <a:t>EVALUATION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33672" y="4846320"/>
            <a:ext cx="1069848" cy="274320"/>
          </a:xfrm>
          <a:prstGeom prst="roundRect">
            <a:avLst>
              <a:gd name="adj" fmla="val 8000"/>
            </a:avLst>
          </a:prstGeom>
          <a:solidFill>
            <a:srgbClr val="252927"/>
          </a:solidFill>
          <a:ln w="8890">
            <a:solidFill>
              <a:srgbClr val="3439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33672" y="4855464"/>
            <a:ext cx="1069848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BFC5C1"/>
                </a:solidFill>
                <a:latin typeface="Courier New"/>
              </a:rPr>
              <a:t>EVIDENCE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58968" y="4846320"/>
            <a:ext cx="713232" cy="274320"/>
          </a:xfrm>
          <a:prstGeom prst="roundRect">
            <a:avLst>
              <a:gd name="adj" fmla="val 8000"/>
            </a:avLst>
          </a:prstGeom>
          <a:solidFill>
            <a:srgbClr val="252927"/>
          </a:solidFill>
          <a:ln w="8890">
            <a:solidFill>
              <a:srgbClr val="3439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58968" y="4855464"/>
            <a:ext cx="713232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BFC5C1"/>
                </a:solidFill>
                <a:latin typeface="Courier New"/>
              </a:rPr>
              <a:t>AUDIT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" y="6144768"/>
            <a:ext cx="10945368" cy="12700"/>
          </a:xfrm>
          <a:prstGeom prst="rect">
            <a:avLst/>
          </a:prstGeom>
          <a:solidFill>
            <a:srgbClr val="343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6327648"/>
            <a:ext cx="2926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>
                <a:solidFill>
                  <a:srgbClr val="737A76"/>
                </a:solidFill>
                <a:latin typeface="Courier New"/>
              </a:rPr>
              <a:t>2026.08  /  v0.2.0a0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58521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Courier New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PingFang SC"/>
              </a:rPr>
              <a:t>传统测试方法不适配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9576"/>
            <a:ext cx="107899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问题已经从“接口断言”升级为“执行治理”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201400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B77"/>
                </a:solidFill>
                <a:latin typeface="Courier New"/>
              </a:rPr>
              <a:t>AGENTRIG / GOAI 2026                                      02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2615184" cy="342900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874519"/>
            <a:ext cx="45720" cy="3429000"/>
          </a:xfrm>
          <a:prstGeom prst="rect">
            <a:avLst/>
          </a:prstGeom>
          <a:solidFill>
            <a:srgbClr val="B8403A"/>
          </a:solidFill>
          <a:ln w="8890">
            <a:solidFill>
              <a:srgbClr val="B840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29967"/>
            <a:ext cx="36576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B8403A"/>
                </a:solidFill>
                <a:latin typeface="Courier New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31720"/>
            <a:ext cx="229514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51719"/>
                </a:solidFill>
                <a:latin typeface="PingFang SC"/>
              </a:rPr>
              <a:t>输出不确定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2295144" cy="2423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0">
                <a:solidFill>
                  <a:srgbClr val="59615D"/>
                </a:solidFill>
                <a:latin typeface="PingFang SC"/>
              </a:rPr>
              <a:t>字符串快照既脆弱，也无法解释语义是否正确。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1874519"/>
            <a:ext cx="2615184" cy="342900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1874519"/>
            <a:ext cx="45720" cy="3429000"/>
          </a:xfrm>
          <a:prstGeom prst="rect">
            <a:avLst/>
          </a:prstGeom>
          <a:solidFill>
            <a:srgbClr val="955900"/>
          </a:solidFill>
          <a:ln w="8890">
            <a:solidFill>
              <a:srgbClr val="95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47872" y="2029967"/>
            <a:ext cx="36576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955900"/>
                </a:solidFill>
                <a:latin typeface="Courier New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2331720"/>
            <a:ext cx="229514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51719"/>
                </a:solidFill>
                <a:latin typeface="PingFang SC"/>
              </a:rPr>
              <a:t>工具有副作用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2" y="2770632"/>
            <a:ext cx="2295144" cy="2423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0">
                <a:solidFill>
                  <a:srgbClr val="59615D"/>
                </a:solidFill>
                <a:latin typeface="PingFang SC"/>
              </a:rPr>
              <a:t>真实工具昂贵且修改数据；纯 mock 又缺少合理性。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9632" y="1874519"/>
            <a:ext cx="2615184" cy="342900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9632" y="1874519"/>
            <a:ext cx="45720" cy="3429000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4224" y="2029967"/>
            <a:ext cx="36576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Courier New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4224" y="2331720"/>
            <a:ext cx="229514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51719"/>
                </a:solidFill>
                <a:latin typeface="PingFang SC"/>
              </a:rPr>
              <a:t>Judge 不可信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2770632"/>
            <a:ext cx="2295144" cy="2423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0">
                <a:solidFill>
                  <a:srgbClr val="59615D"/>
                </a:solidFill>
                <a:latin typeface="PingFang SC"/>
              </a:rPr>
              <a:t>可能看见预期答案、接受伪证据或脱离运行事实。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15984" y="1874519"/>
            <a:ext cx="2615184" cy="342900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15984" y="1874519"/>
            <a:ext cx="45720" cy="3429000"/>
          </a:xfrm>
          <a:prstGeom prst="rect">
            <a:avLst/>
          </a:prstGeom>
          <a:solidFill>
            <a:srgbClr val="237A59"/>
          </a:solidFill>
          <a:ln w="8890">
            <a:solidFill>
              <a:srgbClr val="23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80576" y="2029967"/>
            <a:ext cx="36576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37A59"/>
                </a:solidFill>
                <a:latin typeface="Courier New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2331720"/>
            <a:ext cx="229514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51719"/>
                </a:solidFill>
                <a:latin typeface="PingFang SC"/>
              </a:rPr>
              <a:t>状态跨多轮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0576" y="2770632"/>
            <a:ext cx="2295144" cy="2423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0">
                <a:solidFill>
                  <a:srgbClr val="59615D"/>
                </a:solidFill>
                <a:latin typeface="PingFang SC"/>
              </a:rPr>
              <a:t>版本、工具链、审批和恢复共同决定最终行为。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605272"/>
            <a:ext cx="1088136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51719"/>
                </a:solidFill>
                <a:latin typeface="PingFang SC"/>
              </a:rPr>
              <a:t>目标不是再做一个聊天评分器，而是建立企业 Agent 的持续验证基础设施。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58521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Courier New"/>
              </a:rPr>
              <a:t>USER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PingFang SC"/>
              </a:rPr>
              <a:t>从一句目标到可审计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9576"/>
            <a:ext cx="107899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把平台数据模型隐藏在自然语言交互之后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201400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B77"/>
                </a:solidFill>
                <a:latin typeface="Courier New"/>
              </a:rPr>
              <a:t>AGENTRIG / GOAI 2026                                      03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2331720"/>
            <a:ext cx="1591056" cy="157276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" y="2487168"/>
            <a:ext cx="365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Courier New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2852928"/>
            <a:ext cx="129844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51719"/>
                </a:solidFill>
                <a:latin typeface="PingFang SC"/>
              </a:rPr>
              <a:t>描述目标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3246120"/>
            <a:ext cx="1298448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59615D"/>
                </a:solidFill>
                <a:latin typeface="PingFang SC"/>
              </a:rPr>
              <a:t>自然语言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7984" y="2889504"/>
            <a:ext cx="25603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2457F5"/>
                </a:solidFill>
                <a:latin typeface="PingFang S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32304" y="2331720"/>
            <a:ext cx="1591056" cy="157276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78608" y="2487168"/>
            <a:ext cx="365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Courier New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78608" y="2852928"/>
            <a:ext cx="129844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51719"/>
                </a:solidFill>
                <a:latin typeface="PingFang SC"/>
              </a:rPr>
              <a:t>查询资产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3246120"/>
            <a:ext cx="1298448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59615D"/>
                </a:solidFill>
                <a:latin typeface="PingFang SC"/>
              </a:rPr>
              <a:t>Case / Target / 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9936" y="2889504"/>
            <a:ext cx="25603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2457F5"/>
                </a:solidFill>
                <a:latin typeface="PingFang SC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4256" y="2331720"/>
            <a:ext cx="1591056" cy="157276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2487168"/>
            <a:ext cx="365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Courier New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2852928"/>
            <a:ext cx="129844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51719"/>
                </a:solidFill>
                <a:latin typeface="PingFang SC"/>
              </a:rPr>
              <a:t>预览计划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246120"/>
            <a:ext cx="1298448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59615D"/>
                </a:solidFill>
                <a:latin typeface="PingFang SC"/>
              </a:rPr>
              <a:t>范围 / 风险 / 数量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1888" y="2889504"/>
            <a:ext cx="25603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2457F5"/>
                </a:solidFill>
                <a:latin typeface="PingFang SC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36208" y="2331720"/>
            <a:ext cx="1591056" cy="157276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82512" y="2487168"/>
            <a:ext cx="365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Courier New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2852928"/>
            <a:ext cx="129844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51719"/>
                </a:solidFill>
                <a:latin typeface="PingFang SC"/>
              </a:rPr>
              <a:t>用户确认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2512" y="3246120"/>
            <a:ext cx="1298448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59615D"/>
                </a:solidFill>
                <a:latin typeface="PingFang SC"/>
              </a:rPr>
              <a:t>绑定 event + revision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889504"/>
            <a:ext cx="25603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2457F5"/>
                </a:solidFill>
                <a:latin typeface="PingFang SC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331720"/>
            <a:ext cx="1591056" cy="157276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84464" y="2487168"/>
            <a:ext cx="365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Courier New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84464" y="2852928"/>
            <a:ext cx="129844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51719"/>
                </a:solidFill>
                <a:latin typeface="PingFang SC"/>
              </a:rPr>
              <a:t>执行验证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84464" y="3246120"/>
            <a:ext cx="1298448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59615D"/>
                </a:solidFill>
                <a:latin typeface="PingFang SC"/>
              </a:rPr>
              <a:t>Rule + Judge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65792" y="2889504"/>
            <a:ext cx="25603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2457F5"/>
                </a:solidFill>
                <a:latin typeface="PingFang SC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0112" y="2331720"/>
            <a:ext cx="1591056" cy="157276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86416" y="2487168"/>
            <a:ext cx="365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Courier New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86416" y="2852928"/>
            <a:ext cx="129844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51719"/>
                </a:solidFill>
                <a:latin typeface="PingFang SC"/>
              </a:rPr>
              <a:t>解释沉淀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86416" y="3246120"/>
            <a:ext cx="1298448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59615D"/>
                </a:solidFill>
                <a:latin typeface="PingFang SC"/>
              </a:rPr>
              <a:t>Evidence / Case Draft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70832" y="4343400"/>
            <a:ext cx="3429000" cy="274320"/>
          </a:xfrm>
          <a:prstGeom prst="roundRect">
            <a:avLst>
              <a:gd name="adj" fmla="val 8000"/>
            </a:avLst>
          </a:prstGeom>
          <a:solidFill>
            <a:srgbClr val="FFF4D8"/>
          </a:solidFill>
          <a:ln w="8890">
            <a:solidFill>
              <a:srgbClr val="EAD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70832" y="4352544"/>
            <a:ext cx="3429000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955900"/>
                </a:solidFill>
                <a:latin typeface="Courier New"/>
              </a:rPr>
              <a:t>NO RUN BEFORE CONFIRMATION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" y="5074920"/>
            <a:ext cx="9966960" cy="4754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252927"/>
                </a:solidFill>
                <a:latin typeface="PingFang SC"/>
              </a:rPr>
              <a:t>关键边界：计划不是提示词中的“建议”，而是可预览、可修订、可确认的领域对象。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58521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Courier New"/>
              </a:rPr>
              <a:t>AGENT IDENTITY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PingFang SC"/>
              </a:rPr>
              <a:t>三 Agent 职责分离，不为数量而拆分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9576"/>
            <a:ext cx="107899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不同知识、不同权限、不同可信边界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201400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B77"/>
                </a:solidFill>
                <a:latin typeface="Courier New"/>
              </a:rPr>
              <a:t>AGENTRIG / GOAI 2026                                      04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38528"/>
            <a:ext cx="3438144" cy="358444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938528"/>
            <a:ext cx="3438144" cy="73152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9536" y="2267712"/>
            <a:ext cx="493776" cy="274320"/>
          </a:xfrm>
          <a:prstGeom prst="roundRect">
            <a:avLst>
              <a:gd name="adj" fmla="val 8000"/>
            </a:avLst>
          </a:prstGeom>
          <a:solidFill>
            <a:srgbClr val="E9EEFF"/>
          </a:solidFill>
          <a:ln w="8890">
            <a:solidFill>
              <a:srgbClr val="E9E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276856"/>
            <a:ext cx="493776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Courier New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724912"/>
            <a:ext cx="301752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51719"/>
                </a:solidFill>
                <a:latin typeface="PingFang SC"/>
              </a:rPr>
              <a:t>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3319272"/>
            <a:ext cx="3017520" cy="7498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252927"/>
                </a:solidFill>
                <a:latin typeface="PingFang SC"/>
              </a:rPr>
              <a:t>目标理解 · 资产选择
计划 · 审批 · 诊断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9536" y="4315968"/>
            <a:ext cx="3026664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4553712"/>
            <a:ext cx="10972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737B77"/>
                </a:solidFill>
                <a:latin typeface="Courier New"/>
              </a:rPr>
              <a:t>BOUNDARY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4828032"/>
            <a:ext cx="297180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不能直接执行原始 run_cases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59" y="1938528"/>
            <a:ext cx="3438144" cy="358444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80559" y="1938528"/>
            <a:ext cx="3438144" cy="73152"/>
          </a:xfrm>
          <a:prstGeom prst="rect">
            <a:avLst/>
          </a:prstGeom>
          <a:solidFill>
            <a:srgbClr val="237A59"/>
          </a:solidFill>
          <a:ln w="8890">
            <a:solidFill>
              <a:srgbClr val="23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81727" y="2267712"/>
            <a:ext cx="493776" cy="274320"/>
          </a:xfrm>
          <a:prstGeom prst="roundRect">
            <a:avLst>
              <a:gd name="adj" fmla="val 8000"/>
            </a:avLst>
          </a:prstGeom>
          <a:solidFill>
            <a:srgbClr val="E8F5EF"/>
          </a:solidFill>
          <a:ln w="8890">
            <a:solidFill>
              <a:srgbClr val="E8F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81727" y="2276856"/>
            <a:ext cx="493776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37A59"/>
                </a:solidFill>
                <a:latin typeface="Courier New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1727" y="2724912"/>
            <a:ext cx="301752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51719"/>
                </a:solidFill>
                <a:latin typeface="PingFang SC"/>
              </a:rPr>
              <a:t>Simulation Curator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7" y="3319272"/>
            <a:ext cx="3017520" cy="7498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252927"/>
                </a:solidFill>
                <a:latin typeface="PingFang SC"/>
              </a:rPr>
              <a:t>冻结上下文 · 工具候选
Schema 合规结果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81727" y="4315968"/>
            <a:ext cx="3026664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1727" y="4553712"/>
            <a:ext cx="10972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737B77"/>
                </a:solidFill>
                <a:latin typeface="Courier New"/>
              </a:rPr>
              <a:t>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81727" y="4828032"/>
            <a:ext cx="297180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看不到 rubric 与预期答案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02752" y="1938528"/>
            <a:ext cx="3438144" cy="358444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02752" y="1938528"/>
            <a:ext cx="3438144" cy="73152"/>
          </a:xfrm>
          <a:prstGeom prst="rect">
            <a:avLst/>
          </a:prstGeom>
          <a:solidFill>
            <a:srgbClr val="955900"/>
          </a:solidFill>
          <a:ln w="8890">
            <a:solidFill>
              <a:srgbClr val="95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503920" y="2267712"/>
            <a:ext cx="493776" cy="274320"/>
          </a:xfrm>
          <a:prstGeom prst="roundRect">
            <a:avLst>
              <a:gd name="adj" fmla="val 8000"/>
            </a:avLst>
          </a:prstGeom>
          <a:solidFill>
            <a:srgbClr val="FFF4D8"/>
          </a:solidFill>
          <a:ln w="8890">
            <a:solidFill>
              <a:srgbClr val="FFF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0" y="2276856"/>
            <a:ext cx="493776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955900"/>
                </a:solidFill>
                <a:latin typeface="Courier New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2724912"/>
            <a:ext cx="301752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51719"/>
                </a:solidFill>
                <a:latin typeface="PingFang SC"/>
              </a:rPr>
              <a:t>Evidence Judge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3319272"/>
            <a:ext cx="3017520" cy="7498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252927"/>
                </a:solidFill>
                <a:latin typeface="PingFang SC"/>
              </a:rPr>
              <a:t>冻结证据 · 独立裁决
引用真实 event ID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03920" y="4315968"/>
            <a:ext cx="3026663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03920" y="4553712"/>
            <a:ext cx="10972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737B77"/>
                </a:solidFill>
                <a:latin typeface="Courier New"/>
              </a:rPr>
              <a:t>BOUNDARY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4828032"/>
            <a:ext cx="297180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不能改执行，也不能造证据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33872"/>
            <a:ext cx="1078992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B8403A"/>
                </a:solidFill>
                <a:latin typeface="PingFang SC"/>
              </a:rPr>
              <a:t>合并角色会产生三类风险：越权执行 / 目标泄漏 / 执行者自评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58521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Courier New"/>
              </a:rPr>
              <a:t>AGENTTEAMS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PingFang SC"/>
              </a:rPr>
              <a:t>AgentTeams 如何真实进入系统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9576"/>
            <a:ext cx="107899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不是 PPT 依赖：身份、生命周期、Skill 和双向事件均可现场核验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201400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B77"/>
                </a:solidFill>
                <a:latin typeface="Courier New"/>
              </a:rPr>
              <a:t>AGENTRIG / GOAI 2026                                      05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01952"/>
            <a:ext cx="4224528" cy="713232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901952"/>
            <a:ext cx="64008" cy="713232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066544"/>
            <a:ext cx="16002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151719"/>
                </a:solidFill>
                <a:latin typeface="PingFang SC"/>
              </a:rPr>
              <a:t>AgentTeams v1.1.2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5728" y="2084832"/>
            <a:ext cx="224028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59615D"/>
                </a:solidFill>
                <a:latin typeface="PingFang SC"/>
              </a:rPr>
              <a:t>Manager / Worker 生命周期与身份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843784"/>
            <a:ext cx="4224528" cy="713232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2843784"/>
            <a:ext cx="64008" cy="713232"/>
          </a:xfrm>
          <a:prstGeom prst="rect">
            <a:avLst/>
          </a:prstGeom>
          <a:solidFill>
            <a:srgbClr val="237A59"/>
          </a:solidFill>
          <a:ln w="8890">
            <a:solidFill>
              <a:srgbClr val="23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3008376"/>
            <a:ext cx="16002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151719"/>
                </a:solidFill>
                <a:latin typeface="PingFang SC"/>
              </a:rPr>
              <a:t>Matrix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95728" y="3026664"/>
            <a:ext cx="224028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59615D"/>
                </a:solidFill>
                <a:latin typeface="PingFang SC"/>
              </a:rPr>
              <a:t>定向唤醒 · 任务投递 · 最终回执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785616"/>
            <a:ext cx="4224528" cy="713232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3785616"/>
            <a:ext cx="64008" cy="713232"/>
          </a:xfrm>
          <a:prstGeom prst="rect">
            <a:avLst/>
          </a:prstGeom>
          <a:solidFill>
            <a:srgbClr val="955900"/>
          </a:solidFill>
          <a:ln w="8890">
            <a:solidFill>
              <a:srgbClr val="95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3950208"/>
            <a:ext cx="16002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151719"/>
                </a:solidFill>
                <a:latin typeface="PingFang SC"/>
              </a:rPr>
              <a:t>MinIO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3968496"/>
            <a:ext cx="224028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59615D"/>
                </a:solidFill>
                <a:latin typeface="PingFang SC"/>
              </a:rPr>
              <a:t>角色工作区 · 版本化 Skills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727448"/>
            <a:ext cx="4224528" cy="713232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4727448"/>
            <a:ext cx="64008" cy="713232"/>
          </a:xfrm>
          <a:prstGeom prst="rect">
            <a:avLst/>
          </a:prstGeom>
          <a:solidFill>
            <a:srgbClr val="B8403A"/>
          </a:solidFill>
          <a:ln w="8890">
            <a:solidFill>
              <a:srgbClr val="B840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4892040"/>
            <a:ext cx="16002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151719"/>
                </a:solidFill>
                <a:latin typeface="PingFang SC"/>
              </a:rPr>
              <a:t>Higress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95728" y="4910328"/>
            <a:ext cx="224028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59615D"/>
                </a:solidFill>
                <a:latin typeface="PingFang SC"/>
              </a:rPr>
              <a:t>三身份隔离 MCP Routes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7488" y="3081528"/>
            <a:ext cx="4572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2457F5"/>
                </a:solidFill>
                <a:latin typeface="PingFang S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50992" y="2121408"/>
            <a:ext cx="5669280" cy="3154680"/>
          </a:xfrm>
          <a:prstGeom prst="rect">
            <a:avLst/>
          </a:prstGeom>
          <a:solidFill>
            <a:srgbClr val="151719"/>
          </a:solidFill>
          <a:ln w="8890">
            <a:solidFill>
              <a:srgbClr val="1517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1888" y="2468880"/>
            <a:ext cx="25603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8E9691"/>
                </a:solidFill>
                <a:latin typeface="Courier New"/>
              </a:rPr>
              <a:t>AGENTRIG ADAPTER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1888" y="2962656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PingFang SC"/>
              </a:rPr>
              <a:t>协作事件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62088" y="2962656"/>
            <a:ext cx="73152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8E9691"/>
                </a:solidFill>
                <a:latin typeface="PingFang SC"/>
              </a:rPr>
              <a:t>映射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8" y="2962656"/>
            <a:ext cx="228600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PingFang SC"/>
              </a:rPr>
              <a:t>业务 Invocation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61888" y="3474720"/>
            <a:ext cx="4992624" cy="12700"/>
          </a:xfrm>
          <a:prstGeom prst="rect">
            <a:avLst/>
          </a:prstGeom>
          <a:solidFill>
            <a:srgbClr val="343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61888" y="3785615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  <a:defRPr sz="900">
                <a:solidFill>
                  <a:srgbClr val="BFC5C1"/>
                </a:solidFill>
                <a:latin typeface="PingFang SC"/>
              </a:defRPr>
            </a:pPr>
            <a:r>
              <a:t>•  request_event_id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900">
                <a:solidFill>
                  <a:srgbClr val="BFC5C1"/>
                </a:solidFill>
                <a:latin typeface="PingFang SC"/>
              </a:defRPr>
            </a:pPr>
            <a:r>
              <a:t>•  response_event_id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900">
                <a:solidFill>
                  <a:srgbClr val="BFC5C1"/>
                </a:solidFill>
                <a:latin typeface="PingFang SC"/>
              </a:defRPr>
            </a:pPr>
            <a:r>
              <a:t>•  input / result hash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900">
                <a:solidFill>
                  <a:srgbClr val="BFC5C1"/>
                </a:solidFill>
                <a:latin typeface="PingFang SC"/>
              </a:defRPr>
            </a:pPr>
            <a:r>
              <a:t>•  terminal status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30768" y="3785615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  <a:defRPr sz="900">
                <a:solidFill>
                  <a:srgbClr val="BFC5C1"/>
                </a:solidFill>
                <a:latin typeface="PingFang SC"/>
              </a:defRPr>
            </a:pPr>
            <a:r>
              <a:t>•  run_id / case_run_id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900">
                <a:solidFill>
                  <a:srgbClr val="BFC5C1"/>
                </a:solidFill>
                <a:latin typeface="PingFang SC"/>
              </a:defRPr>
            </a:pPr>
            <a:r>
              <a:t>•  role / deadline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900">
                <a:solidFill>
                  <a:srgbClr val="BFC5C1"/>
                </a:solidFill>
                <a:latin typeface="PingFang SC"/>
              </a:defRPr>
            </a:pPr>
            <a:r>
              <a:t>•  result_ref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900">
                <a:solidFill>
                  <a:srgbClr val="BFC5C1"/>
                </a:solidFill>
                <a:latin typeface="PingFang SC"/>
              </a:defRPr>
            </a:pPr>
            <a:r>
              <a:t>•  error boundary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61888" y="4800600"/>
            <a:ext cx="498348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8E9691"/>
                </a:solidFill>
                <a:latin typeface="PingFang SC"/>
              </a:rPr>
              <a:t>Core 不依赖 AgentTeams 类型；协作框架可替换，业务事实合同不变。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58521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Courier New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PingFang SC"/>
              </a:rPr>
              <a:t>协作层与事实层分离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9576"/>
            <a:ext cx="107899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AgentTeams 管“谁协作”，AgentRig Core 管“什么是事实”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201400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B77"/>
                </a:solidFill>
                <a:latin typeface="Courier New"/>
              </a:rPr>
              <a:t>AGENTRIG / GOAI 2026                                      06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1847088"/>
            <a:ext cx="10716768" cy="621792"/>
          </a:xfrm>
          <a:prstGeom prst="rect">
            <a:avLst/>
          </a:prstGeom>
          <a:solidFill>
            <a:srgbClr val="E9EE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29968"/>
            <a:ext cx="16002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Courier New"/>
              </a:rPr>
              <a:t>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3472" y="1993392"/>
            <a:ext cx="813816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151719"/>
                </a:solidFill>
                <a:latin typeface="PingFang SC"/>
              </a:rPr>
              <a:t>Web Assistant / Plan Preview / Evidence Trail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2651760"/>
            <a:ext cx="10716768" cy="621792"/>
          </a:xfrm>
          <a:prstGeom prst="rect">
            <a:avLst/>
          </a:prstGeom>
          <a:solidFill>
            <a:srgbClr val="E8F5E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834640"/>
            <a:ext cx="16002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37A59"/>
                </a:solidFill>
                <a:latin typeface="Courier New"/>
              </a:rPr>
              <a:t>COLLABORATION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3472" y="2798064"/>
            <a:ext cx="813816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151719"/>
                </a:solidFill>
                <a:latin typeface="PingFang SC"/>
              </a:rPr>
              <a:t>Manager  ⇄  Matrix  ⇄  Curator / Judge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3456432"/>
            <a:ext cx="10716768" cy="621792"/>
          </a:xfrm>
          <a:prstGeom prst="rect">
            <a:avLst/>
          </a:prstGeom>
          <a:solidFill>
            <a:srgbClr val="FFF4D8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639312"/>
            <a:ext cx="16002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955900"/>
                </a:solidFill>
                <a:latin typeface="Courier New"/>
              </a:rPr>
              <a:t>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33472" y="3602736"/>
            <a:ext cx="813816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151719"/>
                </a:solidFill>
                <a:latin typeface="PingFang SC"/>
              </a:rPr>
              <a:t>EvaluationPlan / Approval / Invocation / MCP Policies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4261104"/>
            <a:ext cx="10716768" cy="621792"/>
          </a:xfrm>
          <a:prstGeom prst="rect">
            <a:avLst/>
          </a:prstGeom>
          <a:solidFill>
            <a:srgbClr val="FCEBEA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443984"/>
            <a:ext cx="16002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B8403A"/>
                </a:solidFill>
                <a:latin typeface="Courier New"/>
              </a:rPr>
              <a:t>EXECUTION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33472" y="4407408"/>
            <a:ext cx="813816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151719"/>
                </a:solidFill>
                <a:latin typeface="PingFang SC"/>
              </a:rPr>
              <a:t>Drivers  →  lassist/Pixcake  →  Provider Chain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" y="5065776"/>
            <a:ext cx="10716768" cy="621792"/>
          </a:xfrm>
          <a:prstGeom prst="rect">
            <a:avLst/>
          </a:prstGeom>
          <a:solidFill>
            <a:srgbClr val="FFFFFF"/>
          </a:solidFill>
          <a:ln w="8890">
            <a:solidFill>
              <a:srgbClr val="252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248656"/>
            <a:ext cx="16002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52927"/>
                </a:solidFill>
                <a:latin typeface="Courier New"/>
              </a:rPr>
              <a:t>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33472" y="5212080"/>
            <a:ext cx="813816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151719"/>
                </a:solidFill>
                <a:latin typeface="Courier New"/>
              </a:rPr>
              <a:t>Case / Snapshot / RunEvent / Evaluation / Hash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34256" y="6044184"/>
            <a:ext cx="3493008" cy="274320"/>
          </a:xfrm>
          <a:prstGeom prst="roundRect">
            <a:avLst>
              <a:gd name="adj" fmla="val 8000"/>
            </a:avLst>
          </a:prstGeom>
          <a:solidFill>
            <a:srgbClr val="151719"/>
          </a:solidFill>
          <a:ln w="8890">
            <a:solidFill>
              <a:srgbClr val="1517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34256" y="6053328"/>
            <a:ext cx="3493008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Courier New"/>
              </a:rPr>
              <a:t>IMMUTABLE EVIDENCE BOUNDARY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58521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Courier New"/>
              </a:rPr>
              <a:t>SKILL +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PingFang SC"/>
              </a:rPr>
              <a:t>可复用能力，不是一次性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9576"/>
            <a:ext cx="107899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11 个 Skill + 三套最小权限 MCP 工具集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201400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B77"/>
                </a:solidFill>
                <a:latin typeface="Courier New"/>
              </a:rPr>
              <a:t>AGENTRIG / GOAI 2026                                      07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7088"/>
            <a:ext cx="3611880" cy="361188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2084831"/>
            <a:ext cx="3209544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2457F5"/>
                </a:solidFill>
                <a:latin typeface="Courier New"/>
              </a:rPr>
              <a:t>MANAGER / 6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59" y="2578608"/>
            <a:ext cx="3246120" cy="365760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688336"/>
            <a:ext cx="29260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50" b="0">
                <a:solidFill>
                  <a:srgbClr val="737B77"/>
                </a:solidFill>
                <a:latin typeface="Courier New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2660903"/>
            <a:ext cx="26060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52927"/>
                </a:solidFill>
                <a:latin typeface="Courier New"/>
              </a:rPr>
              <a:t>adaptive-evaluation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59" y="3090672"/>
            <a:ext cx="3246120" cy="365760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3200400"/>
            <a:ext cx="29260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50" b="0">
                <a:solidFill>
                  <a:srgbClr val="737B77"/>
                </a:solidFill>
                <a:latin typeface="Courier New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3172968"/>
            <a:ext cx="26060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52927"/>
                </a:solidFill>
                <a:latin typeface="Courier New"/>
              </a:rPr>
              <a:t>plan-evaluation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" y="3602736"/>
            <a:ext cx="3246120" cy="365760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712463"/>
            <a:ext cx="29260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50" b="0">
                <a:solidFill>
                  <a:srgbClr val="737B77"/>
                </a:solidFill>
                <a:latin typeface="Courier New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3685032"/>
            <a:ext cx="26060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52927"/>
                </a:solidFill>
                <a:latin typeface="Courier New"/>
              </a:rPr>
              <a:t>execute-evaluation-plan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59" y="4114800"/>
            <a:ext cx="3246120" cy="365760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224528"/>
            <a:ext cx="29260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50" b="0">
                <a:solidFill>
                  <a:srgbClr val="737B77"/>
                </a:solidFill>
                <a:latin typeface="Courier New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8448" y="4197096"/>
            <a:ext cx="26060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52927"/>
                </a:solidFill>
                <a:latin typeface="Courier New"/>
              </a:rPr>
              <a:t>diagnose-run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59" y="4626864"/>
            <a:ext cx="3246120" cy="365760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736592"/>
            <a:ext cx="29260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50" b="0">
                <a:solidFill>
                  <a:srgbClr val="737B77"/>
                </a:solidFill>
                <a:latin typeface="Courier New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8448" y="4709160"/>
            <a:ext cx="26060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52927"/>
                </a:solidFill>
                <a:latin typeface="Courier New"/>
              </a:rPr>
              <a:t>build-test-case-draft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59" y="5138928"/>
            <a:ext cx="3246120" cy="365760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248656"/>
            <a:ext cx="29260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50" b="0">
                <a:solidFill>
                  <a:srgbClr val="737B77"/>
                </a:solidFill>
                <a:latin typeface="Courier New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8448" y="5221224"/>
            <a:ext cx="26060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52927"/>
                </a:solidFill>
                <a:latin typeface="Courier New"/>
              </a:rPr>
              <a:t>configure-test-target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1847088"/>
            <a:ext cx="2999232" cy="361188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2084831"/>
            <a:ext cx="259689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237A59"/>
                </a:solidFill>
                <a:latin typeface="Courier New"/>
              </a:rPr>
              <a:t>WORKERS / 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54880" y="2578608"/>
            <a:ext cx="2633472" cy="365760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82896" y="2688336"/>
            <a:ext cx="29260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50" b="0">
                <a:solidFill>
                  <a:srgbClr val="737B77"/>
                </a:solidFill>
                <a:latin typeface="Courier New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30368" y="2660903"/>
            <a:ext cx="1993391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52927"/>
                </a:solidFill>
                <a:latin typeface="Courier New"/>
              </a:rPr>
              <a:t>simulate-tool-result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54880" y="3090672"/>
            <a:ext cx="2633472" cy="365760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82896" y="3200400"/>
            <a:ext cx="29260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50" b="0">
                <a:solidFill>
                  <a:srgbClr val="737B77"/>
                </a:solidFill>
                <a:latin typeface="Courier New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30368" y="3172968"/>
            <a:ext cx="1993391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52927"/>
                </a:solidFill>
                <a:latin typeface="Courier New"/>
              </a:rPr>
              <a:t>judge-evidence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82127" y="1847088"/>
            <a:ext cx="3639312" cy="361188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83296" y="2084831"/>
            <a:ext cx="323697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55900"/>
                </a:solidFill>
                <a:latin typeface="Courier New"/>
              </a:rPr>
              <a:t>CORE / 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65007" y="2578608"/>
            <a:ext cx="3273552" cy="365760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93023" y="2688336"/>
            <a:ext cx="29260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50" b="0">
                <a:solidFill>
                  <a:srgbClr val="737B77"/>
                </a:solidFill>
                <a:latin typeface="Courier New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0496" y="2660903"/>
            <a:ext cx="26334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52927"/>
                </a:solidFill>
                <a:latin typeface="Courier New"/>
              </a:rPr>
              <a:t>run-test-cases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65007" y="3090672"/>
            <a:ext cx="3273552" cy="365760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023" y="3200400"/>
            <a:ext cx="29260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50" b="0">
                <a:solidFill>
                  <a:srgbClr val="737B77"/>
                </a:solidFill>
                <a:latin typeface="Courier New"/>
              </a:rPr>
              <a:t>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0496" y="3172968"/>
            <a:ext cx="26334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52927"/>
                </a:solidFill>
                <a:latin typeface="Courier New"/>
              </a:rPr>
              <a:t>build-test-case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7" y="3602736"/>
            <a:ext cx="3273552" cy="365760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93023" y="3712463"/>
            <a:ext cx="29260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50" b="0">
                <a:solidFill>
                  <a:srgbClr val="737B77"/>
                </a:solidFill>
                <a:latin typeface="Courier New"/>
              </a:rPr>
              <a:t>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40496" y="3685032"/>
            <a:ext cx="26334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52927"/>
                </a:solidFill>
                <a:latin typeface="Courier New"/>
              </a:rPr>
              <a:t>harvest-tool-samples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5769864"/>
            <a:ext cx="1088136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51719"/>
                </a:solidFill>
                <a:latin typeface="PingFang SC"/>
              </a:rPr>
              <a:t>每个核心 Skill：输入输出 · 调用条件 · 依赖 · 失败 · 安全 · 验证 · 复用 · 版本/回滚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58521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Courier New"/>
              </a:rPr>
              <a:t>TRUSTED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PingFang SC"/>
              </a:rPr>
              <a:t>防止“Judge 说通过就通过”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9576"/>
            <a:ext cx="107899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确定性约束与语义判断独立保存，结论必须回到证据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201400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B77"/>
                </a:solidFill>
                <a:latin typeface="Courier New"/>
              </a:rPr>
              <a:t>AGENTRIG / GOAI 2026                                      08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1993392"/>
            <a:ext cx="2011680" cy="306324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3504" y="1993392"/>
            <a:ext cx="2011680" cy="73152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2340864"/>
            <a:ext cx="365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Courier New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761488"/>
            <a:ext cx="1682496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51719"/>
                </a:solidFill>
                <a:latin typeface="PingFang SC"/>
              </a:rPr>
              <a:t>冻结输入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337560"/>
            <a:ext cx="168249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Case / Target / Profile
形成不可变快照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" y="4416552"/>
            <a:ext cx="987552" cy="274320"/>
          </a:xfrm>
          <a:prstGeom prst="roundRect">
            <a:avLst>
              <a:gd name="adj" fmla="val 8000"/>
            </a:avLst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4425696"/>
            <a:ext cx="987552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Courier New"/>
              </a:rPr>
              <a:t>VERIFIED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62072" y="1993392"/>
            <a:ext cx="2011680" cy="306324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862072" y="1993392"/>
            <a:ext cx="2011680" cy="73152"/>
          </a:xfrm>
          <a:prstGeom prst="rect">
            <a:avLst/>
          </a:prstGeom>
          <a:solidFill>
            <a:srgbClr val="237A59"/>
          </a:solidFill>
          <a:ln w="8890">
            <a:solidFill>
              <a:srgbClr val="23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26664" y="2340864"/>
            <a:ext cx="365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37A59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26664" y="2761488"/>
            <a:ext cx="1682496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51719"/>
                </a:solidFill>
                <a:latin typeface="PingFang SC"/>
              </a:rPr>
              <a:t>隔离生成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26664" y="3337560"/>
            <a:ext cx="168249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Curator 看不到 rubric
只提交 Schema 候选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26664" y="4416552"/>
            <a:ext cx="987552" cy="274320"/>
          </a:xfrm>
          <a:prstGeom prst="roundRect">
            <a:avLst>
              <a:gd name="adj" fmla="val 8000"/>
            </a:avLst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26664" y="4425696"/>
            <a:ext cx="987552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37A59"/>
                </a:solidFill>
                <a:latin typeface="Courier New"/>
              </a:rPr>
              <a:t>VERIFIED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0" y="1993392"/>
            <a:ext cx="2011680" cy="306324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0" y="1993392"/>
            <a:ext cx="2011680" cy="73152"/>
          </a:xfrm>
          <a:prstGeom prst="rect">
            <a:avLst/>
          </a:prstGeom>
          <a:solidFill>
            <a:srgbClr val="955900"/>
          </a:solidFill>
          <a:ln w="8890">
            <a:solidFill>
              <a:srgbClr val="95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85232" y="2340864"/>
            <a:ext cx="365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955900"/>
                </a:solidFill>
                <a:latin typeface="Courier New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85232" y="2761488"/>
            <a:ext cx="1682496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51719"/>
                </a:solidFill>
                <a:latin typeface="PingFang SC"/>
              </a:rPr>
              <a:t>确定性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5232" y="3337560"/>
            <a:ext cx="168249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结构化断言先执行
结果独立存档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85232" y="4416552"/>
            <a:ext cx="987552" cy="274320"/>
          </a:xfrm>
          <a:prstGeom prst="roundRect">
            <a:avLst>
              <a:gd name="adj" fmla="val 8000"/>
            </a:avLst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85232" y="4425696"/>
            <a:ext cx="987552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955900"/>
                </a:solidFill>
                <a:latin typeface="Courier New"/>
              </a:rPr>
              <a:t>VERIFIED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79208" y="1993392"/>
            <a:ext cx="2011680" cy="306324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79208" y="1993392"/>
            <a:ext cx="2011680" cy="73152"/>
          </a:xfrm>
          <a:prstGeom prst="rect">
            <a:avLst/>
          </a:prstGeom>
          <a:solidFill>
            <a:srgbClr val="B8403A"/>
          </a:solidFill>
          <a:ln w="8890">
            <a:solidFill>
              <a:srgbClr val="B840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43800" y="2340864"/>
            <a:ext cx="365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B8403A"/>
                </a:solidFill>
                <a:latin typeface="Courier New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2761488"/>
            <a:ext cx="1682496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51719"/>
                </a:solidFill>
                <a:latin typeface="PingFang SC"/>
              </a:rPr>
              <a:t>证据 Judge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43800" y="3337560"/>
            <a:ext cx="168249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只能引用本次 Run
真实 event ID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4416552"/>
            <a:ext cx="987552" cy="274320"/>
          </a:xfrm>
          <a:prstGeom prst="roundRect">
            <a:avLst>
              <a:gd name="adj" fmla="val 8000"/>
            </a:avLst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43800" y="4425696"/>
            <a:ext cx="987552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B8403A"/>
                </a:solidFill>
                <a:latin typeface="Courier New"/>
              </a:rPr>
              <a:t>VERIFIED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37776" y="1993392"/>
            <a:ext cx="2011680" cy="306324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37776" y="1993392"/>
            <a:ext cx="2011680" cy="73152"/>
          </a:xfrm>
          <a:prstGeom prst="rect">
            <a:avLst/>
          </a:prstGeom>
          <a:solidFill>
            <a:srgbClr val="252927"/>
          </a:solidFill>
          <a:ln w="8890">
            <a:solidFill>
              <a:srgbClr val="252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802368" y="2340864"/>
            <a:ext cx="365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52927"/>
                </a:solidFill>
                <a:latin typeface="Courier New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02368" y="2761488"/>
            <a:ext cx="1682496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51719"/>
                </a:solidFill>
                <a:latin typeface="PingFang SC"/>
              </a:rPr>
              <a:t>输出校验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02368" y="3337560"/>
            <a:ext cx="168249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Pydantic / JSON Schema
Hash / Ref validation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802368" y="4416552"/>
            <a:ext cx="987552" cy="274320"/>
          </a:xfrm>
          <a:prstGeom prst="roundRect">
            <a:avLst>
              <a:gd name="adj" fmla="val 8000"/>
            </a:avLst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802368" y="4425696"/>
            <a:ext cx="987552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52927"/>
                </a:solidFill>
                <a:latin typeface="Courier New"/>
              </a:rPr>
              <a:t>VERIFIED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3504" y="5532120"/>
            <a:ext cx="1097280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252927"/>
                </a:solidFill>
                <a:latin typeface="PingFang SC"/>
              </a:rPr>
              <a:t>Rule / Judge / External 三类 Evaluation 互不覆盖；任何未知 evidence_ref 都会被拒绝。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58521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Courier New"/>
              </a:rPr>
              <a:t>SAFETY +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PingFang SC"/>
              </a:rPr>
              <a:t>审批、安全与恢复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9576"/>
            <a:ext cx="107899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模型只能提出动作，确定性后端决定动作是否允许发生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201400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B77"/>
                </a:solidFill>
                <a:latin typeface="Courier New"/>
              </a:rPr>
              <a:t>AGENTRIG / GOAI 2026                                      09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011680"/>
            <a:ext cx="1792224" cy="621792"/>
          </a:xfrm>
          <a:prstGeom prst="rect">
            <a:avLst/>
          </a:prstGeom>
          <a:solidFill>
            <a:srgbClr val="E9EEFF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185416"/>
            <a:ext cx="1792224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2457F5"/>
                </a:solidFill>
                <a:latin typeface="Courier New"/>
              </a:rPr>
              <a:t>DRAFT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8608" y="2167128"/>
            <a:ext cx="36576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800" b="0">
                <a:solidFill>
                  <a:srgbClr val="737B77"/>
                </a:solidFill>
                <a:latin typeface="PingFang SC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90088" y="2011680"/>
            <a:ext cx="1792224" cy="621792"/>
          </a:xfrm>
          <a:prstGeom prst="rect">
            <a:avLst/>
          </a:prstGeom>
          <a:solidFill>
            <a:srgbClr val="E8F5EF"/>
          </a:solidFill>
          <a:ln w="8890">
            <a:solidFill>
              <a:srgbClr val="23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0088" y="2185416"/>
            <a:ext cx="1792224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237A59"/>
                </a:solidFill>
                <a:latin typeface="Courier New"/>
              </a:rPr>
              <a:t>CONFIRMED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8888" y="2167128"/>
            <a:ext cx="36576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800" b="0">
                <a:solidFill>
                  <a:srgbClr val="737B77"/>
                </a:solidFill>
                <a:latin typeface="PingFang SC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30368" y="2011680"/>
            <a:ext cx="1792224" cy="621792"/>
          </a:xfrm>
          <a:prstGeom prst="rect">
            <a:avLst/>
          </a:prstGeom>
          <a:solidFill>
            <a:srgbClr val="FFF4D8"/>
          </a:solidFill>
          <a:ln w="8890">
            <a:solidFill>
              <a:srgbClr val="95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0368" y="2185416"/>
            <a:ext cx="1792224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55900"/>
                </a:solidFill>
                <a:latin typeface="Courier New"/>
              </a:rPr>
              <a:t>SUBMITTED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2907792"/>
            <a:ext cx="626364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252927"/>
                </a:solidFill>
                <a:latin typeface="PingFang SC"/>
              </a:rPr>
              <a:t>确认绑定 AssistantEvent + 同一 Plan Revision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60920" y="1874519"/>
            <a:ext cx="4041648" cy="1508760"/>
          </a:xfrm>
          <a:prstGeom prst="rect">
            <a:avLst/>
          </a:prstGeom>
          <a:solidFill>
            <a:srgbClr val="151719"/>
          </a:solidFill>
          <a:ln w="8890">
            <a:solidFill>
              <a:srgbClr val="1517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0" y="2194560"/>
            <a:ext cx="33832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8E9691"/>
                </a:solidFill>
                <a:latin typeface="Courier New"/>
              </a:rPr>
              <a:t>NO CONFIRMATION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2578608"/>
            <a:ext cx="338328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Courier New"/>
              </a:rPr>
              <a:t>NO RUN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" y="3822191"/>
            <a:ext cx="340156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3941063"/>
            <a:ext cx="8412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Courier New"/>
              </a:rPr>
              <a:t>SECRET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82495" y="3922776"/>
            <a:ext cx="2340864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59615D"/>
                </a:solidFill>
                <a:latin typeface="PingFang SC"/>
              </a:rPr>
              <a:t>env: / Secret 引用；不进 Matrix、日志和 Skill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43984" y="3822191"/>
            <a:ext cx="340156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3941063"/>
            <a:ext cx="8412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Courier New"/>
              </a:rPr>
              <a:t>REDACTION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6672" y="3922776"/>
            <a:ext cx="2340864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59615D"/>
                </a:solidFill>
                <a:latin typeface="PingFang SC"/>
              </a:rPr>
              <a:t>模型与 Worker 输入统一脱敏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60" y="3822191"/>
            <a:ext cx="340156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66176" y="3941063"/>
            <a:ext cx="8412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Courier New"/>
              </a:rPr>
              <a:t>IDEMPOTENCY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0848" y="3922776"/>
            <a:ext cx="2340864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59615D"/>
                </a:solidFill>
                <a:latin typeface="PingFang SC"/>
              </a:rPr>
              <a:t>重复提交复用幂等键，不重复执行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8" y="4672583"/>
            <a:ext cx="340156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7824" y="4791455"/>
            <a:ext cx="8412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Courier New"/>
              </a:rPr>
              <a:t>TERMINAL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82495" y="4773168"/>
            <a:ext cx="2340864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59615D"/>
                </a:solidFill>
                <a:latin typeface="PingFang SC"/>
              </a:rPr>
              <a:t>超时、取消、失败都是显式可审计终态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43984" y="4672583"/>
            <a:ext cx="340156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4791455"/>
            <a:ext cx="8412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Courier New"/>
              </a:rPr>
              <a:t>DEGRADE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76672" y="4773168"/>
            <a:ext cx="2340864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59615D"/>
                </a:solidFill>
                <a:latin typeface="PingFang SC"/>
              </a:rPr>
              <a:t>AgentTeams 故障不破坏 Core 与既有证据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58521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Courier New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PingFang SC"/>
              </a:rPr>
              <a:t>真实 Demo：成功、失败与证据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9576"/>
            <a:ext cx="107899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本机 lassist/Pixcake Agent · AgentTeams 三角色 · 双向 Matrix event ID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201400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B77"/>
                </a:solidFill>
                <a:latin typeface="Courier New"/>
              </a:rPr>
              <a:t>AGENTRIG / GOAI 2026                                      10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10512"/>
            <a:ext cx="2971800" cy="4370832"/>
          </a:xfrm>
          <a:prstGeom prst="rect">
            <a:avLst/>
          </a:prstGeom>
          <a:solidFill>
            <a:srgbClr val="151719"/>
          </a:solidFill>
          <a:ln w="8890">
            <a:solidFill>
              <a:srgbClr val="1517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23774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8E9691"/>
                </a:solidFill>
                <a:latin typeface="Courier New"/>
              </a:rPr>
              <a:t>DEMO CONTRACT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33472"/>
            <a:ext cx="310896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Courier New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615184"/>
            <a:ext cx="17373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PingFang SC"/>
              </a:rPr>
              <a:t>成功闭环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935224"/>
            <a:ext cx="1901952" cy="4206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BFC5C1"/>
                </a:solidFill>
                <a:latin typeface="PingFang SC"/>
              </a:rPr>
              <a:t>apply_image_prompt → Curator → Rule 3/3 → Judge pass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21024"/>
            <a:ext cx="310896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Courier New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602736"/>
            <a:ext cx="17373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PingFang SC"/>
              </a:rPr>
              <a:t>策略回归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922776"/>
            <a:ext cx="1901952" cy="4206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BFC5C1"/>
                </a:solidFill>
                <a:latin typeface="PingFang SC"/>
              </a:rPr>
              <a:t>编辑前未二次确认 → Rule / Judge fail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08576"/>
            <a:ext cx="310896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Courier New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590288"/>
            <a:ext cx="17373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PingFang SC"/>
              </a:rPr>
              <a:t>审批边界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910328"/>
            <a:ext cx="1901952" cy="4206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BFC5C1"/>
                </a:solidFill>
                <a:latin typeface="PingFang SC"/>
              </a:rPr>
              <a:t>未确认不提交；revision 更新使旧确认失效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541264"/>
            <a:ext cx="2331720" cy="274320"/>
          </a:xfrm>
          <a:prstGeom prst="roundRect">
            <a:avLst>
              <a:gd name="adj" fmla="val 8000"/>
            </a:avLst>
          </a:prstGeom>
          <a:solidFill>
            <a:srgbClr val="252927"/>
          </a:solidFill>
          <a:ln w="8890">
            <a:solidFill>
              <a:srgbClr val="3439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550407"/>
            <a:ext cx="2331720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BFC5C1"/>
                </a:solidFill>
                <a:latin typeface="Courier New"/>
              </a:rPr>
              <a:t>REAL TARGET / NO FAKE DRIVER</a:t>
            </a:r>
          </a:p>
        </p:txBody>
      </p:sp>
      <p:pic>
        <p:nvPicPr>
          <p:cNvPr id="21" name="Picture 20" descr="agentrig-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7" y="1810512"/>
            <a:ext cx="8019288" cy="450799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58521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Courier New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PingFang SC"/>
              </a:rPr>
              <a:t>工程落地与开放价值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9576"/>
            <a:ext cx="107899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Core 无模型、无 AgentTeams 仍可完成确定性回归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201400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B77"/>
                </a:solidFill>
                <a:latin typeface="Courier New"/>
              </a:rPr>
              <a:t>AGENTRIG / GOAI 2026                                      11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4519"/>
            <a:ext cx="2487168" cy="114300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45720" cy="1143000"/>
          </a:xfrm>
          <a:prstGeom prst="rect">
            <a:avLst/>
          </a:prstGeom>
          <a:solidFill>
            <a:srgbClr val="2457F5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2084831"/>
            <a:ext cx="841248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Courier New"/>
              </a:rPr>
              <a:t>3+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212848"/>
            <a:ext cx="1234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59615D"/>
                </a:solidFill>
                <a:latin typeface="PingFang SC"/>
              </a:rPr>
              <a:t>Agent identities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0711" y="1874519"/>
            <a:ext cx="2487168" cy="114300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10711" y="1874519"/>
            <a:ext cx="45720" cy="1143000"/>
          </a:xfrm>
          <a:prstGeom prst="rect">
            <a:avLst/>
          </a:prstGeom>
          <a:solidFill>
            <a:srgbClr val="237A59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3591" y="2084831"/>
            <a:ext cx="841248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Courier New"/>
              </a:rPr>
              <a:t>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2212848"/>
            <a:ext cx="1234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59615D"/>
                </a:solidFill>
                <a:latin typeface="PingFang SC"/>
              </a:rPr>
              <a:t>Versioned Skills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1874519"/>
            <a:ext cx="2487168" cy="114300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1874519"/>
            <a:ext cx="45720" cy="1143000"/>
          </a:xfrm>
          <a:prstGeom prst="rect">
            <a:avLst/>
          </a:prstGeom>
          <a:solidFill>
            <a:srgbClr val="955900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224" y="2084831"/>
            <a:ext cx="841248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Courier New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87183" y="2212848"/>
            <a:ext cx="1234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59615D"/>
                </a:solidFill>
                <a:latin typeface="PingFang SC"/>
              </a:rPr>
              <a:t>Target Drivers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1976" y="1874519"/>
            <a:ext cx="2487168" cy="114300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51976" y="1874519"/>
            <a:ext cx="45720" cy="1143000"/>
          </a:xfrm>
          <a:prstGeom prst="rect">
            <a:avLst/>
          </a:prstGeom>
          <a:solidFill>
            <a:srgbClr val="B8403A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34855" y="2084831"/>
            <a:ext cx="841248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Courier New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57815" y="2212848"/>
            <a:ext cx="1234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59615D"/>
                </a:solidFill>
                <a:latin typeface="PingFang SC"/>
              </a:rPr>
              <a:t>Evaluator types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3429000"/>
            <a:ext cx="5321808" cy="566928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3602736"/>
            <a:ext cx="91440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Courier New"/>
              </a:rPr>
              <a:t>STACK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64208" y="3575304"/>
            <a:ext cx="41148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252927"/>
                </a:solidFill>
                <a:latin typeface="PingFang SC"/>
              </a:rPr>
              <a:t>Python 3.12 · FastAPI · SQLAlchemy · React · MCP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6208" y="3429000"/>
            <a:ext cx="5321808" cy="566928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2512" y="3602736"/>
            <a:ext cx="91440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Courier New"/>
              </a:rPr>
              <a:t>DRIVERS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0336" y="3575304"/>
            <a:ext cx="41148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252927"/>
                </a:solidFill>
                <a:latin typeface="PingFang SC"/>
              </a:rPr>
              <a:t>Pixcake HTTP-SSE · OpenAI compatible · ACP · subprocess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178808"/>
            <a:ext cx="5321808" cy="566928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6384" y="4352544"/>
            <a:ext cx="91440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Courier New"/>
              </a:rPr>
              <a:t>STORAGE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64208" y="4325112"/>
            <a:ext cx="41148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252927"/>
                </a:solidFill>
                <a:latin typeface="PingFang SC"/>
              </a:rPr>
              <a:t>SQLite 本机一键体验；Repository 可切 PostgreSQL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36208" y="4178808"/>
            <a:ext cx="5321808" cy="566928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2512" y="4352544"/>
            <a:ext cx="91440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Courier New"/>
              </a:rPr>
              <a:t>EXTENSION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0336" y="4325112"/>
            <a:ext cx="41148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252927"/>
                </a:solidFill>
                <a:latin typeface="PingFang SC"/>
              </a:rPr>
              <a:t>Driver / Provider / Evaluator / Skill / Adapter 均为契约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4928616"/>
            <a:ext cx="5321808" cy="566928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6384" y="5102352"/>
            <a:ext cx="91440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Courier New"/>
              </a:rPr>
              <a:t>CONTEXT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64208" y="5074920"/>
            <a:ext cx="41148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252927"/>
                </a:solidFill>
                <a:latin typeface="PingFang SC"/>
              </a:rPr>
              <a:t>会话记忆 · 共享状态 · 轨迹可观测（3/4）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36208" y="4928616"/>
            <a:ext cx="5321808" cy="566928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82512" y="5102352"/>
            <a:ext cx="91440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Courier New"/>
              </a:rPr>
              <a:t>DELIVERY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0336" y="5074920"/>
            <a:ext cx="41148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252927"/>
                </a:solidFill>
                <a:latin typeface="PingFang SC"/>
              </a:rPr>
              <a:t>MIT · 一键部署 · 确定性角色包 · 测试/安全文档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58521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Courier New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PingFang SC"/>
              </a:rPr>
              <a:t>让每个 Agent 决定都经过分工、验证并留下证据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9576"/>
            <a:ext cx="107899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AgentRig 不替 Agent 做决定；它让决定可以持续回归、发布门禁与审计复盘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201400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B77"/>
                </a:solidFill>
                <a:latin typeface="Courier New"/>
              </a:rPr>
              <a:t>AGENTRIG / GOAI 2026                                      12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965960"/>
            <a:ext cx="3401568" cy="321868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965960"/>
            <a:ext cx="3401568" cy="73152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304288"/>
            <a:ext cx="14630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Courier New"/>
              </a:rPr>
              <a:t>INITIAL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761488"/>
            <a:ext cx="288036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151719"/>
                </a:solidFill>
                <a:latin typeface="Courier New"/>
              </a:rPr>
              <a:t>2026.08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310128"/>
            <a:ext cx="2953512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593592"/>
            <a:ext cx="2852928" cy="9601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59615D"/>
                </a:solidFill>
                <a:latin typeface="PingFang SC"/>
              </a:rPr>
              <a:t>公开设计与身份清单
真实三 Agent Demo
成功 / 失败证据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07992" y="1965960"/>
            <a:ext cx="3401568" cy="321868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07992" y="1965960"/>
            <a:ext cx="3401568" cy="73152"/>
          </a:xfrm>
          <a:prstGeom prst="rect">
            <a:avLst/>
          </a:prstGeom>
          <a:solidFill>
            <a:srgbClr val="237A59"/>
          </a:solidFill>
          <a:ln w="8890">
            <a:solidFill>
              <a:srgbClr val="23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27448" y="2304288"/>
            <a:ext cx="14630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37A59"/>
                </a:solidFill>
                <a:latin typeface="Courier New"/>
              </a:rPr>
              <a:t>SEMIFINAL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8" y="2761488"/>
            <a:ext cx="288036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151719"/>
                </a:solidFill>
                <a:latin typeface="Courier New"/>
              </a:rPr>
              <a:t>NEXT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27448" y="3310128"/>
            <a:ext cx="2953511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27448" y="3593592"/>
            <a:ext cx="2852928" cy="9601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59615D"/>
                </a:solidFill>
                <a:latin typeface="PingFang SC"/>
              </a:rPr>
              <a:t>可执行代码包与视频
运行报告 / Trace
恢复与性能指标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02752" y="1965960"/>
            <a:ext cx="3401568" cy="321868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02752" y="1965960"/>
            <a:ext cx="3401568" cy="73152"/>
          </a:xfrm>
          <a:prstGeom prst="rect">
            <a:avLst/>
          </a:prstGeom>
          <a:solidFill>
            <a:srgbClr val="955900"/>
          </a:solidFill>
          <a:ln w="8890">
            <a:solidFill>
              <a:srgbClr val="95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22208" y="2304288"/>
            <a:ext cx="14630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955900"/>
                </a:solidFill>
                <a:latin typeface="Courier New"/>
              </a:rPr>
              <a:t>FINAL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22208" y="2761488"/>
            <a:ext cx="288036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151719"/>
                </a:solidFill>
                <a:latin typeface="Courier New"/>
              </a:rPr>
              <a:t>SCALE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22208" y="3310128"/>
            <a:ext cx="2953512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22208" y="3593592"/>
            <a:ext cx="2852928" cy="9601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59615D"/>
                </a:solidFill>
                <a:latin typeface="PingFang SC"/>
              </a:rPr>
              <a:t>PostgreSQL / Kubernetes
OTel / SLS 可观测
版本对比与发布门禁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5614416"/>
            <a:ext cx="10972800" cy="4023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51719"/>
                </a:solidFill>
                <a:latin typeface="PingFang SC"/>
              </a:rPr>
              <a:t>不同企业 Agent 共用的开源质量与发布基础设施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24528" y="6099048"/>
            <a:ext cx="3822191" cy="274320"/>
          </a:xfrm>
          <a:prstGeom prst="roundRect">
            <a:avLst>
              <a:gd name="adj" fmla="val 8000"/>
            </a:avLst>
          </a:prstGeom>
          <a:solidFill>
            <a:srgbClr val="151719"/>
          </a:solidFill>
          <a:ln w="8890">
            <a:solidFill>
              <a:srgbClr val="1517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24528" y="6108192"/>
            <a:ext cx="3822191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Courier New"/>
              </a:rPr>
              <a:t>AGENTRIG / EVIDENCE BEFORE CONFIDENCE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2927"/>
          </a:solidFill>
          <a:ln w="8890">
            <a:solidFill>
              <a:srgbClr val="252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58521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52927"/>
                </a:solidFill>
                <a:latin typeface="Courier New"/>
              </a:rPr>
              <a:t>APPENDIX / AGENT IDENTITY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PingFang SC"/>
              </a:rPr>
              <a:t>附录 A：三个 Agent 的完整身份合同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9576"/>
            <a:ext cx="107899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Name / Role / Capabilities / Inputs / Outputs / Dependencies / Decision Boundary /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201400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B77"/>
                </a:solidFill>
                <a:latin typeface="Courier New"/>
              </a:rPr>
              <a:t>AGENTRIG / GOAI 2026                         APPENDIX 01 / 03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828800"/>
            <a:ext cx="3493008" cy="4370832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828800"/>
            <a:ext cx="3493008" cy="73152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93976"/>
            <a:ext cx="31089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Courier New"/>
              </a:rPr>
              <a:t>evaluation-manager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386584"/>
            <a:ext cx="310896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51719"/>
                </a:solidFill>
                <a:latin typeface="PingFang SC"/>
              </a:rPr>
              <a:t>Evaluation Manager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862072"/>
            <a:ext cx="987552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20" b="1">
                <a:solidFill>
                  <a:srgbClr val="2457F5"/>
                </a:solidFill>
                <a:latin typeface="Courier New"/>
              </a:rPr>
              <a:t>CAPABILITIES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19" y="2843784"/>
            <a:ext cx="2185416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50" b="0">
                <a:solidFill>
                  <a:srgbClr val="252927"/>
                </a:solidFill>
                <a:latin typeface="PingFang SC"/>
              </a:rPr>
              <a:t>资产选择 · 计划/审批 · 诊断/用例草稿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392424"/>
            <a:ext cx="987552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20" b="1">
                <a:solidFill>
                  <a:srgbClr val="2457F5"/>
                </a:solidFill>
                <a:latin typeface="Courier New"/>
              </a:rPr>
              <a:t>INPUTS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19" y="3374136"/>
            <a:ext cx="2185416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50" b="0">
                <a:solidFill>
                  <a:srgbClr val="252927"/>
                </a:solidFill>
                <a:latin typeface="PingFang SC"/>
              </a:rPr>
              <a:t>Session/Turn/Event · 用户目标 · 权威资产事实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922776"/>
            <a:ext cx="987552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20" b="1">
                <a:solidFill>
                  <a:srgbClr val="2457F5"/>
                </a:solidFill>
                <a:latin typeface="Courier New"/>
              </a:rPr>
              <a:t>OUTPUTS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19" y="3904488"/>
            <a:ext cx="2185416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50" b="0">
                <a:solidFill>
                  <a:srgbClr val="252927"/>
                </a:solidFill>
                <a:latin typeface="PingFang SC"/>
              </a:rPr>
              <a:t>Plan/Decision/Run 引用 · 证据诊断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4453127"/>
            <a:ext cx="987552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20" b="1">
                <a:solidFill>
                  <a:srgbClr val="2457F5"/>
                </a:solidFill>
                <a:latin typeface="Courier New"/>
              </a:rPr>
              <a:t>DEPENDENCIES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19" y="4434840"/>
            <a:ext cx="2185416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50" b="0">
                <a:solidFill>
                  <a:srgbClr val="252927"/>
                </a:solidFill>
                <a:latin typeface="PingFang SC"/>
              </a:rPr>
              <a:t>6 Manager Skills · manager MCP ·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83479"/>
            <a:ext cx="987552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20" b="1">
                <a:solidFill>
                  <a:srgbClr val="2457F5"/>
                </a:solidFill>
                <a:latin typeface="Courier New"/>
              </a:rPr>
              <a:t>DECISION BOUNDARY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19" y="4965192"/>
            <a:ext cx="2185416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50" b="0">
                <a:solidFill>
                  <a:srgbClr val="252927"/>
                </a:solidFill>
                <a:latin typeface="PingFang SC"/>
              </a:rPr>
              <a:t>不能原始 run_cases；确认/提交绑定用户 event + revision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5513831"/>
            <a:ext cx="987552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20" b="1">
                <a:solidFill>
                  <a:srgbClr val="2457F5"/>
                </a:solidFill>
                <a:latin typeface="Courier New"/>
              </a:rPr>
              <a:t>TRACE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19" y="5495544"/>
            <a:ext cx="2185416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50" b="0">
                <a:solidFill>
                  <a:srgbClr val="252927"/>
                </a:solidFill>
                <a:latin typeface="PingFang SC"/>
              </a:rPr>
              <a:t>AssistantEvent · ManagerDecision · Plan/Run · Matrix IDs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34256" y="1828800"/>
            <a:ext cx="3493008" cy="4370832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34256" y="1828800"/>
            <a:ext cx="3493008" cy="73152"/>
          </a:xfrm>
          <a:prstGeom prst="rect">
            <a:avLst/>
          </a:prstGeom>
          <a:solidFill>
            <a:srgbClr val="237A59"/>
          </a:solidFill>
          <a:ln w="8890">
            <a:solidFill>
              <a:srgbClr val="23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7136" y="2093976"/>
            <a:ext cx="31089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37A59"/>
                </a:solidFill>
                <a:latin typeface="Courier New"/>
              </a:rPr>
              <a:t>simulation-curator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7136" y="2386584"/>
            <a:ext cx="310896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51719"/>
                </a:solidFill>
                <a:latin typeface="PingFang SC"/>
              </a:rPr>
              <a:t>Simulation Curator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7136" y="2862072"/>
            <a:ext cx="987552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20" b="1">
                <a:solidFill>
                  <a:srgbClr val="237A59"/>
                </a:solidFill>
                <a:latin typeface="Courier New"/>
              </a:rPr>
              <a:t>CAPABILITIES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13248" y="2843784"/>
            <a:ext cx="2185416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50" b="0">
                <a:solidFill>
                  <a:srgbClr val="252927"/>
                </a:solidFill>
                <a:latin typeface="PingFang SC"/>
              </a:rPr>
              <a:t>生成最小合理、Schema 合法的受控结果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3392424"/>
            <a:ext cx="987552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20" b="1">
                <a:solidFill>
                  <a:srgbClr val="237A59"/>
                </a:solidFill>
                <a:latin typeface="Courier New"/>
              </a:rPr>
              <a:t>INPUTS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3374136"/>
            <a:ext cx="2185416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50" b="0">
                <a:solidFill>
                  <a:srgbClr val="252927"/>
                </a:solidFill>
                <a:latin typeface="PingFang SC"/>
              </a:rPr>
              <a:t>invocation/hash/deadline · tool/args/schema · 脱敏历史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17136" y="3922776"/>
            <a:ext cx="987552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20" b="1">
                <a:solidFill>
                  <a:srgbClr val="237A59"/>
                </a:solidFill>
                <a:latin typeface="Courier New"/>
              </a:rPr>
              <a:t>OUTPUTS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13248" y="3904488"/>
            <a:ext cx="2185416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50" b="0">
                <a:solidFill>
                  <a:srgbClr val="252927"/>
                </a:solidFill>
                <a:latin typeface="PingFang SC"/>
              </a:rPr>
              <a:t>CuratorGeneration 或分类结构化失败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17136" y="4453127"/>
            <a:ext cx="987552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20" b="1">
                <a:solidFill>
                  <a:srgbClr val="237A59"/>
                </a:solidFill>
                <a:latin typeface="Courier New"/>
              </a:rPr>
              <a:t>DEPENDENCIES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13248" y="4434840"/>
            <a:ext cx="2185416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50" b="0">
                <a:solidFill>
                  <a:srgbClr val="252927"/>
                </a:solidFill>
                <a:latin typeface="PingFang SC"/>
              </a:rPr>
              <a:t>simulate-tool-result · Curator 三工具 MCP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17136" y="4983479"/>
            <a:ext cx="987552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20" b="1">
                <a:solidFill>
                  <a:srgbClr val="237A59"/>
                </a:solidFill>
                <a:latin typeface="Courier New"/>
              </a:rPr>
              <a:t>DECISION BOUNDARY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13248" y="4965192"/>
            <a:ext cx="2185416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50" b="0">
                <a:solidFill>
                  <a:srgbClr val="252927"/>
                </a:solidFill>
                <a:latin typeface="PingFang SC"/>
              </a:rPr>
              <a:t>看不到 rubric/预期；不调真实工具；不枚举任务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17136" y="5513831"/>
            <a:ext cx="987552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20" b="1">
                <a:solidFill>
                  <a:srgbClr val="237A59"/>
                </a:solidFill>
                <a:latin typeface="Courier New"/>
              </a:rPr>
              <a:t>TRACE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13248" y="5495544"/>
            <a:ext cx="2185416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50" b="0">
                <a:solidFill>
                  <a:srgbClr val="252927"/>
                </a:solidFill>
                <a:latin typeface="PingFang SC"/>
              </a:rPr>
              <a:t>Invocation 状态 · hashes · Matrix IDs · RunEvent ref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01583" y="1828800"/>
            <a:ext cx="3493008" cy="4370832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01583" y="1828800"/>
            <a:ext cx="3493008" cy="73152"/>
          </a:xfrm>
          <a:prstGeom prst="rect">
            <a:avLst/>
          </a:prstGeom>
          <a:solidFill>
            <a:srgbClr val="955900"/>
          </a:solidFill>
          <a:ln w="8890">
            <a:solidFill>
              <a:srgbClr val="95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84463" y="2093976"/>
            <a:ext cx="31089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955900"/>
                </a:solidFill>
                <a:latin typeface="Courier New"/>
              </a:rPr>
              <a:t>evidence-judge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84463" y="2386584"/>
            <a:ext cx="310896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51719"/>
                </a:solidFill>
                <a:latin typeface="PingFang SC"/>
              </a:rPr>
              <a:t>Evidence Judge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84463" y="2862072"/>
            <a:ext cx="987552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20" b="1">
                <a:solidFill>
                  <a:srgbClr val="955900"/>
                </a:solidFill>
                <a:latin typeface="Courier New"/>
              </a:rPr>
              <a:t>CAPABILITIES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0576" y="2843784"/>
            <a:ext cx="2185416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50" b="0">
                <a:solidFill>
                  <a:srgbClr val="252927"/>
                </a:solidFill>
                <a:latin typeface="PingFang SC"/>
              </a:rPr>
              <a:t>独立 pass/fail/inconclusive · 引用真实 event ID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84463" y="3392424"/>
            <a:ext cx="987552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20" b="1">
                <a:solidFill>
                  <a:srgbClr val="955900"/>
                </a:solidFill>
                <a:latin typeface="Courier New"/>
              </a:rPr>
              <a:t>INPUTS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80576" y="3374136"/>
            <a:ext cx="2185416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50" b="0">
                <a:solidFill>
                  <a:srgbClr val="252927"/>
                </a:solidFill>
                <a:latin typeface="PingFang SC"/>
              </a:rPr>
              <a:t>invocation/hash/deadline · 冻结 rubric · Rule · 脱敏证据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84463" y="3922776"/>
            <a:ext cx="987552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20" b="1">
                <a:solidFill>
                  <a:srgbClr val="955900"/>
                </a:solidFill>
                <a:latin typeface="Courier New"/>
              </a:rPr>
              <a:t>OUTPUTS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80576" y="3904488"/>
            <a:ext cx="2185416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50" b="0">
                <a:solidFill>
                  <a:srgbClr val="252927"/>
                </a:solidFill>
                <a:latin typeface="PingFang SC"/>
              </a:rPr>
              <a:t>JudgeOutput · criteria · summary · evidence refs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84463" y="4453127"/>
            <a:ext cx="987552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20" b="1">
                <a:solidFill>
                  <a:srgbClr val="955900"/>
                </a:solidFill>
                <a:latin typeface="Courier New"/>
              </a:rPr>
              <a:t>DEPENDENCIES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80576" y="4434840"/>
            <a:ext cx="2185416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50" b="0">
                <a:solidFill>
                  <a:srgbClr val="252927"/>
                </a:solidFill>
                <a:latin typeface="PingFang SC"/>
              </a:rPr>
              <a:t>judge-evidence · Judge 三工具 MCP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4463" y="4983479"/>
            <a:ext cx="987552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20" b="1">
                <a:solidFill>
                  <a:srgbClr val="955900"/>
                </a:solidFill>
                <a:latin typeface="Courier New"/>
              </a:rPr>
              <a:t>DECISION BOUNDARY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80576" y="4965192"/>
            <a:ext cx="2185416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50" b="0">
                <a:solidFill>
                  <a:srgbClr val="252927"/>
                </a:solidFill>
                <a:latin typeface="PingFang SC"/>
              </a:rPr>
              <a:t>不造证据/改 Rule；证据不足必须 inconclusive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84463" y="5513831"/>
            <a:ext cx="987552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20" b="1">
                <a:solidFill>
                  <a:srgbClr val="955900"/>
                </a:solidFill>
                <a:latin typeface="Courier New"/>
              </a:rPr>
              <a:t>TRACE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80576" y="5495544"/>
            <a:ext cx="2185416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50" b="0">
                <a:solidFill>
                  <a:srgbClr val="252927"/>
                </a:solidFill>
                <a:latin typeface="PingFang SC"/>
              </a:rPr>
              <a:t>Invocation 状态 · hashes · Matrix IDs · Evaluation ID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2927"/>
          </a:solidFill>
          <a:ln w="8890">
            <a:solidFill>
              <a:srgbClr val="252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58521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52927"/>
                </a:solidFill>
                <a:latin typeface="Courier New"/>
              </a:rPr>
              <a:t>APPENDIX / SKILL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PingFang SC"/>
              </a:rPr>
              <a:t>附录 B：11 个 Skill 如何被工程化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9576"/>
            <a:ext cx="107899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不只列名称：定义调用、输入输出、失败、安全、验证、版本与复用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201400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B77"/>
                </a:solidFill>
                <a:latin typeface="Courier New"/>
              </a:rPr>
              <a:t>AGENTRIG / GOAI 2026                         APPENDIX 02 / 03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28800"/>
            <a:ext cx="3675887" cy="4370832"/>
          </a:xfrm>
          <a:prstGeom prst="rect">
            <a:avLst/>
          </a:prstGeom>
          <a:solidFill>
            <a:srgbClr val="151719"/>
          </a:solidFill>
          <a:ln w="8890">
            <a:solidFill>
              <a:srgbClr val="1517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103120"/>
            <a:ext cx="320040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8E9691"/>
                </a:solidFill>
                <a:latin typeface="Courier New"/>
              </a:rPr>
              <a:t>11 VERSIONED SKILLS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487168"/>
            <a:ext cx="10515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80" b="1">
                <a:solidFill>
                  <a:srgbClr val="2457F5"/>
                </a:solidFill>
                <a:latin typeface="Courier New"/>
              </a:rPr>
              <a:t>MANAGER /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088" y="2459736"/>
            <a:ext cx="2057400" cy="182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20" b="1">
                <a:solidFill>
                  <a:srgbClr val="FFFFFF"/>
                </a:solidFill>
                <a:latin typeface="Courier New"/>
              </a:rPr>
              <a:t>adaptive-evaluation
plan-evaluation
execute-evaluation-plan
diagnose-run
build-test-case-draft
configure-test-target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526280"/>
            <a:ext cx="10515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80" b="1">
                <a:solidFill>
                  <a:srgbClr val="237A59"/>
                </a:solidFill>
                <a:latin typeface="Courier New"/>
              </a:rPr>
              <a:t>WORKERS /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7088" y="4498848"/>
            <a:ext cx="2057400" cy="8412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20" b="1">
                <a:solidFill>
                  <a:srgbClr val="FFFFFF"/>
                </a:solidFill>
                <a:latin typeface="Courier New"/>
              </a:rPr>
              <a:t>simulate-tool-result
judge-evidence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577840"/>
            <a:ext cx="10515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80" b="1">
                <a:solidFill>
                  <a:srgbClr val="955900"/>
                </a:solidFill>
                <a:latin typeface="Courier New"/>
              </a:rPr>
              <a:t>CORE /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47088" y="5550408"/>
            <a:ext cx="2057400" cy="10881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20" b="1">
                <a:solidFill>
                  <a:srgbClr val="FFFFFF"/>
                </a:solidFill>
                <a:latin typeface="Courier New"/>
              </a:rPr>
              <a:t>run-test-cases
build-test-case
harvest-tool-samples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53712" y="1828800"/>
            <a:ext cx="7059168" cy="251460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0600" y="2103120"/>
            <a:ext cx="2926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Courier New"/>
              </a:rPr>
              <a:t>OFFICIAL CONTRACT FIELDS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00600" y="2523744"/>
            <a:ext cx="2971800" cy="246888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92040" y="2596896"/>
            <a:ext cx="256032" cy="91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550" b="0">
                <a:solidFill>
                  <a:srgbClr val="737B77"/>
                </a:solidFill>
                <a:latin typeface="Courier New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93792" y="2569463"/>
            <a:ext cx="2395728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52927"/>
                </a:solidFill>
                <a:latin typeface="PingFang SC"/>
              </a:rPr>
              <a:t>名称 / 类型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2523744"/>
            <a:ext cx="2971800" cy="246888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2596896"/>
            <a:ext cx="256032" cy="91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550" b="0">
                <a:solidFill>
                  <a:srgbClr val="737B77"/>
                </a:solidFill>
                <a:latin typeface="Courier New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9912" y="2569463"/>
            <a:ext cx="2395728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52927"/>
                </a:solidFill>
                <a:latin typeface="PingFang SC"/>
              </a:rPr>
              <a:t>使用场景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2852927"/>
            <a:ext cx="2971800" cy="246888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92040" y="2926079"/>
            <a:ext cx="256032" cy="91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550" b="0">
                <a:solidFill>
                  <a:srgbClr val="737B77"/>
                </a:solidFill>
                <a:latin typeface="Courier New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792" y="2898647"/>
            <a:ext cx="2395728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52927"/>
                </a:solidFill>
                <a:latin typeface="PingFang SC"/>
              </a:rPr>
              <a:t>输入参数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46720" y="2852927"/>
            <a:ext cx="2971800" cy="246888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2926079"/>
            <a:ext cx="256032" cy="91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550" b="0">
                <a:solidFill>
                  <a:srgbClr val="737B77"/>
                </a:solidFill>
                <a:latin typeface="Courier New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9912" y="2898647"/>
            <a:ext cx="2395728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52927"/>
                </a:solidFill>
                <a:latin typeface="PingFang SC"/>
              </a:rPr>
              <a:t>输出结果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00600" y="3182111"/>
            <a:ext cx="2971800" cy="246888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92040" y="3255263"/>
            <a:ext cx="256032" cy="91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550" b="0">
                <a:solidFill>
                  <a:srgbClr val="737B77"/>
                </a:solidFill>
                <a:latin typeface="Courier New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93792" y="3227831"/>
            <a:ext cx="2395728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52927"/>
                </a:solidFill>
                <a:latin typeface="PingFang SC"/>
              </a:rPr>
              <a:t>调用条件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46720" y="3182111"/>
            <a:ext cx="2971800" cy="246888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38160" y="3255263"/>
            <a:ext cx="256032" cy="91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550" b="0">
                <a:solidFill>
                  <a:srgbClr val="737B77"/>
                </a:solidFill>
                <a:latin typeface="Courier New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39912" y="3227831"/>
            <a:ext cx="2395728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52927"/>
                </a:solidFill>
                <a:latin typeface="PingFang SC"/>
              </a:rPr>
              <a:t>依赖工具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00600" y="3511296"/>
            <a:ext cx="2971800" cy="246888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92040" y="3584448"/>
            <a:ext cx="256032" cy="91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550" b="0">
                <a:solidFill>
                  <a:srgbClr val="737B77"/>
                </a:solidFill>
                <a:latin typeface="Courier New"/>
              </a:rPr>
              <a:t>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93792" y="3557015"/>
            <a:ext cx="2395728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52927"/>
                </a:solidFill>
                <a:latin typeface="PingFang SC"/>
              </a:rPr>
              <a:t>失败处理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46720" y="3511296"/>
            <a:ext cx="2971800" cy="246888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38160" y="3584448"/>
            <a:ext cx="256032" cy="91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550" b="0">
                <a:solidFill>
                  <a:srgbClr val="737B77"/>
                </a:solidFill>
                <a:latin typeface="Courier New"/>
              </a:rPr>
              <a:t>08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39912" y="3557015"/>
            <a:ext cx="2395728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52927"/>
                </a:solidFill>
                <a:latin typeface="PingFang SC"/>
              </a:rPr>
              <a:t>安全边界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800600" y="3840479"/>
            <a:ext cx="2971800" cy="246888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92040" y="3913631"/>
            <a:ext cx="256032" cy="91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550" b="0">
                <a:solidFill>
                  <a:srgbClr val="737B77"/>
                </a:solidFill>
                <a:latin typeface="Courier New"/>
              </a:rPr>
              <a:t>09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93792" y="3886199"/>
            <a:ext cx="2395728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52927"/>
                </a:solidFill>
                <a:latin typeface="PingFang SC"/>
              </a:rPr>
              <a:t>验证 / 复用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046720" y="3840479"/>
            <a:ext cx="2971800" cy="246888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38160" y="3913631"/>
            <a:ext cx="256032" cy="91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550" b="0">
                <a:solidFill>
                  <a:srgbClr val="737B77"/>
                </a:solidFill>
                <a:latin typeface="Courier New"/>
              </a:rPr>
              <a:t>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39912" y="3886199"/>
            <a:ext cx="2395728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52927"/>
                </a:solidFill>
                <a:latin typeface="PingFang SC"/>
              </a:rPr>
              <a:t>版本 / 回滚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53712" y="4590288"/>
            <a:ext cx="7059168" cy="1609344"/>
          </a:xfrm>
          <a:prstGeom prst="rect">
            <a:avLst/>
          </a:prstGeom>
          <a:solidFill>
            <a:srgbClr val="E9EEFF"/>
          </a:solidFill>
          <a:ln w="8890">
            <a:solidFill>
              <a:srgbClr val="C8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00600" y="4837176"/>
            <a:ext cx="31089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50" b="1">
                <a:solidFill>
                  <a:srgbClr val="2457F5"/>
                </a:solidFill>
                <a:latin typeface="Courier New"/>
              </a:rPr>
              <a:t>VERSION / RELEASE / ROLLBACK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00600" y="5221224"/>
            <a:ext cx="644652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252927"/>
                </a:solidFill>
                <a:latin typeface="PingFang SC"/>
              </a:rPr>
              <a:t>当前随 AgentRig 0.2.0a0 进入 Git 版本管理；确定性构建三角色包，
AgentTeams 基线锁定 v1.1.2；回滚完整 Release + 角色包，不单独热替换 Prompt。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00600" y="5916168"/>
            <a:ext cx="6309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59615D"/>
                </a:solidFill>
                <a:latin typeface="Courier New"/>
              </a:rPr>
              <a:t>完整逐 Skill 字段表：docs/competition/08-Skill-清单.md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2927"/>
          </a:solidFill>
          <a:ln w="8890">
            <a:solidFill>
              <a:srgbClr val="252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58521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52927"/>
                </a:solidFill>
                <a:latin typeface="Courier New"/>
              </a:rPr>
              <a:t>APPENDIX /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PingFang SC"/>
              </a:rPr>
              <a:t>上下文能力与当前可验证证据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9576"/>
            <a:ext cx="107899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赛题要求 4 选 2；AgentRig 实现记忆、共享状态和轨迹可观测 3 项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201400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B77"/>
                </a:solidFill>
                <a:latin typeface="Courier New"/>
              </a:rPr>
              <a:t>AGENTRIG / GOAI 2026                         APPENDIX 03 / 03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72" y="1847088"/>
            <a:ext cx="2615184" cy="1527048"/>
          </a:xfrm>
          <a:prstGeom prst="rect">
            <a:avLst/>
          </a:prstGeom>
          <a:solidFill>
            <a:srgbClr val="E8F5E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2029968"/>
            <a:ext cx="32004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50" b="1">
                <a:solidFill>
                  <a:srgbClr val="237A59"/>
                </a:solidFill>
                <a:latin typeface="Courier New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2304288"/>
            <a:ext cx="2249424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51719"/>
                </a:solidFill>
                <a:latin typeface="PingFang SC"/>
              </a:rPr>
              <a:t>Agent 记忆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2660904"/>
            <a:ext cx="2267712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0">
                <a:solidFill>
                  <a:srgbClr val="59615D"/>
                </a:solidFill>
                <a:latin typeface="PingFang SC"/>
              </a:rPr>
              <a:t>Session / Turn / Event
恢复 Plan 与 Run 上下文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30552" y="2029968"/>
            <a:ext cx="877824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580" b="1">
                <a:solidFill>
                  <a:srgbClr val="237A59"/>
                </a:solidFill>
                <a:latin typeface="Courier New"/>
              </a:rPr>
              <a:t>IMPLEMENTED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9000" y="1847088"/>
            <a:ext cx="2615184" cy="1527048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5304" y="2029968"/>
            <a:ext cx="32004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50" b="1">
                <a:solidFill>
                  <a:srgbClr val="737B77"/>
                </a:solidFill>
                <a:latin typeface="Courier New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5304" y="2304288"/>
            <a:ext cx="2249424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51719"/>
                </a:solidFill>
                <a:latin typeface="PingFang SC"/>
              </a:rPr>
              <a:t>知识库 RAG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5304" y="2660904"/>
            <a:ext cx="2267712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0">
                <a:solidFill>
                  <a:srgbClr val="59615D"/>
                </a:solidFill>
                <a:latin typeface="PingFang SC"/>
              </a:rPr>
              <a:t>当前场景不需要
未为数量堆叠检索链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2029968"/>
            <a:ext cx="877824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580" b="1">
                <a:solidFill>
                  <a:srgbClr val="737B77"/>
                </a:solidFill>
                <a:latin typeface="Courier New"/>
              </a:rPr>
              <a:t>NOT NEEDED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81928" y="1847088"/>
            <a:ext cx="2615184" cy="1527048"/>
          </a:xfrm>
          <a:prstGeom prst="rect">
            <a:avLst/>
          </a:prstGeom>
          <a:solidFill>
            <a:srgbClr val="E9EE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2" y="2029968"/>
            <a:ext cx="32004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50" b="1">
                <a:solidFill>
                  <a:srgbClr val="2457F5"/>
                </a:solidFill>
                <a:latin typeface="Courier New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2304288"/>
            <a:ext cx="2249424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51719"/>
                </a:solidFill>
                <a:latin typeface="PingFang SC"/>
              </a:rPr>
              <a:t>共享状态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2660904"/>
            <a:ext cx="2267712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0">
                <a:solidFill>
                  <a:srgbClr val="59615D"/>
                </a:solidFill>
                <a:latin typeface="PingFang SC"/>
              </a:rPr>
              <a:t>Plan / Invocation / Run
权威状态机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36408" y="2029968"/>
            <a:ext cx="877824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580" b="1">
                <a:solidFill>
                  <a:srgbClr val="2457F5"/>
                </a:solidFill>
                <a:latin typeface="Courier New"/>
              </a:rPr>
              <a:t>IMPLEMENTED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34856" y="1847088"/>
            <a:ext cx="2615184" cy="1527048"/>
          </a:xfrm>
          <a:prstGeom prst="rect">
            <a:avLst/>
          </a:prstGeom>
          <a:solidFill>
            <a:srgbClr val="FFF4D8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0" y="2029968"/>
            <a:ext cx="32004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50" b="1">
                <a:solidFill>
                  <a:srgbClr val="955900"/>
                </a:solidFill>
                <a:latin typeface="Courier New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2304288"/>
            <a:ext cx="2249424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51719"/>
                </a:solidFill>
                <a:latin typeface="PingFang SC"/>
              </a:rPr>
              <a:t>轨迹可观测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2660904"/>
            <a:ext cx="2267712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0">
                <a:solidFill>
                  <a:srgbClr val="59615D"/>
                </a:solidFill>
                <a:latin typeface="PingFang SC"/>
              </a:rPr>
              <a:t>RunEvent / Evaluation / Decision
Matrix IDs / hashes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89336" y="2029968"/>
            <a:ext cx="877824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580" b="1">
                <a:solidFill>
                  <a:srgbClr val="955900"/>
                </a:solidFill>
                <a:latin typeface="Courier New"/>
              </a:rPr>
              <a:t>IMPLEMENTED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6072" y="3767328"/>
            <a:ext cx="3529584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76072" y="3767328"/>
            <a:ext cx="45720" cy="841248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3950208"/>
            <a:ext cx="841248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151719"/>
                </a:solidFill>
                <a:latin typeface="Courier New"/>
              </a:rPr>
              <a:t>134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3913632"/>
            <a:ext cx="226771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252927"/>
                </a:solidFill>
                <a:latin typeface="PingFang SC"/>
              </a:rPr>
              <a:t>后端测试通过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4215384"/>
            <a:ext cx="226771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20" b="0">
                <a:solidFill>
                  <a:srgbClr val="59615D"/>
                </a:solidFill>
                <a:latin typeface="PingFang SC"/>
              </a:rPr>
              <a:t>6 skipped / 1 deprecation warning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61688" y="3767328"/>
            <a:ext cx="3529584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61688" y="3767328"/>
            <a:ext cx="45720" cy="841248"/>
          </a:xfrm>
          <a:prstGeom prst="rect">
            <a:avLst/>
          </a:prstGeom>
          <a:solidFill>
            <a:srgbClr val="237A59"/>
          </a:solidFill>
          <a:ln w="8890">
            <a:solidFill>
              <a:srgbClr val="23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26279" y="3950208"/>
            <a:ext cx="841248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151719"/>
                </a:solidFill>
                <a:latin typeface="Courier New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85816" y="3913632"/>
            <a:ext cx="226771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252927"/>
                </a:solidFill>
                <a:latin typeface="PingFang SC"/>
              </a:rPr>
              <a:t>参考场景验证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85816" y="4215384"/>
            <a:ext cx="226771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20" b="0">
                <a:solidFill>
                  <a:srgbClr val="59615D"/>
                </a:solidFill>
                <a:latin typeface="PingFang SC"/>
              </a:rPr>
              <a:t>success / policy regression / recovery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47304" y="3767328"/>
            <a:ext cx="3529584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147304" y="3767328"/>
            <a:ext cx="45720" cy="841248"/>
          </a:xfrm>
          <a:prstGeom prst="rect">
            <a:avLst/>
          </a:prstGeom>
          <a:solidFill>
            <a:srgbClr val="955900"/>
          </a:solidFill>
          <a:ln w="8890">
            <a:solidFill>
              <a:srgbClr val="95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11896" y="3950208"/>
            <a:ext cx="841248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151719"/>
                </a:solidFill>
                <a:latin typeface="Courier New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71432" y="3913632"/>
            <a:ext cx="226771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252927"/>
                </a:solidFill>
                <a:latin typeface="PingFang SC"/>
              </a:rPr>
              <a:t>Git 历史密钥命中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71432" y="4215384"/>
            <a:ext cx="226771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20" b="0">
                <a:solidFill>
                  <a:srgbClr val="59615D"/>
                </a:solidFill>
                <a:latin typeface="PingFang SC"/>
              </a:rPr>
              <a:t>Gitleaks 8.29.1 + official fixture sanity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6072" y="4837176"/>
            <a:ext cx="3529584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76072" y="4837176"/>
            <a:ext cx="45720" cy="841248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0664" y="5020056"/>
            <a:ext cx="841248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151719"/>
                </a:solidFill>
                <a:latin typeface="Courier New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00200" y="4983480"/>
            <a:ext cx="226771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252927"/>
                </a:solidFill>
                <a:latin typeface="PingFang SC"/>
              </a:rPr>
              <a:t>Worker 双向回执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00200" y="5285232"/>
            <a:ext cx="226771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20" b="0">
                <a:solidFill>
                  <a:srgbClr val="59615D"/>
                </a:solidFill>
                <a:latin typeface="PingFang SC"/>
              </a:rPr>
              <a:t>Curator + Judge / Matrix event IDs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361688" y="4837176"/>
            <a:ext cx="3529584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61688" y="4837176"/>
            <a:ext cx="45720" cy="841248"/>
          </a:xfrm>
          <a:prstGeom prst="rect">
            <a:avLst/>
          </a:prstGeom>
          <a:solidFill>
            <a:srgbClr val="237A59"/>
          </a:solidFill>
          <a:ln w="8890">
            <a:solidFill>
              <a:srgbClr val="23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26279" y="5020056"/>
            <a:ext cx="841248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151719"/>
                </a:solidFill>
                <a:latin typeface="Courier New"/>
              </a:rPr>
              <a:t>3/3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85816" y="4983480"/>
            <a:ext cx="226771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252927"/>
                </a:solidFill>
                <a:latin typeface="PingFang SC"/>
              </a:rPr>
              <a:t>成功场景 Rule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85816" y="5285232"/>
            <a:ext cx="226771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20" b="0">
                <a:solidFill>
                  <a:srgbClr val="59615D"/>
                </a:solidFill>
                <a:latin typeface="PingFang SC"/>
              </a:rPr>
              <a:t>Evidence Judge 独立 pass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147304" y="4837176"/>
            <a:ext cx="3529584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147304" y="4837176"/>
            <a:ext cx="45720" cy="841248"/>
          </a:xfrm>
          <a:prstGeom prst="rect">
            <a:avLst/>
          </a:prstGeom>
          <a:solidFill>
            <a:srgbClr val="B8403A"/>
          </a:solidFill>
          <a:ln w="8890">
            <a:solidFill>
              <a:srgbClr val="B840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11896" y="5020056"/>
            <a:ext cx="841248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151719"/>
                </a:solidFill>
                <a:latin typeface="Courier New"/>
              </a:rPr>
              <a:t>2/3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71432" y="4983480"/>
            <a:ext cx="226771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252927"/>
                </a:solidFill>
                <a:latin typeface="PingFang SC"/>
              </a:rPr>
              <a:t>策略回归 Rule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71432" y="5285232"/>
            <a:ext cx="226771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20" b="0">
                <a:solidFill>
                  <a:srgbClr val="59615D"/>
                </a:solidFill>
                <a:latin typeface="PingFang SC"/>
              </a:rPr>
              <a:t>Judge 引用同一违规事件 fail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6072" y="5998464"/>
            <a:ext cx="1097280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B8403A"/>
                </a:solidFill>
                <a:latin typeface="PingFang SC"/>
              </a:rPr>
              <a:t>边界：云端 OTel/SLS、Kubernetes、公开 Release/Tag 与最终视频仍按提交清单闭环，不伪装为已完成。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