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B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502920"/>
            <a:ext cx="384048" cy="384048"/>
          </a:xfrm>
          <a:prstGeom prst="rect">
            <a:avLst/>
          </a:prstGeom>
          <a:solidFill>
            <a:srgbClr val="285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9377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Helvetica Neue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97864" y="603504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PingFang SC"/>
              </a:rPr>
              <a:t>AgentRig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41080" y="603504"/>
            <a:ext cx="2880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850" b="0">
                <a:solidFill>
                  <a:srgbClr val="A8B0AC"/>
                </a:solidFill>
                <a:latin typeface="PingFang SC"/>
              </a:rPr>
              <a:t>GOAI 2026 · Agent Infra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344168"/>
            <a:ext cx="55778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FFFFFF"/>
                </a:solidFill>
                <a:latin typeface="PingFang SC"/>
              </a:rPr>
              <a:t>让 Agent 的每次变化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FFFFFF"/>
                </a:solidFill>
                <a:latin typeface="PingFang SC"/>
              </a:rPr>
              <a:t>都有可发布的证据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27248"/>
            <a:ext cx="5303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50" b="0">
                <a:solidFill>
                  <a:srgbClr val="CAD0CD"/>
                </a:solidFill>
                <a:latin typeface="PingFang SC"/>
              </a:rPr>
              <a:t>真实推理 · 受控副作用 · 行为级回归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730752"/>
            <a:ext cx="5074920" cy="10972"/>
          </a:xfrm>
          <a:prstGeom prst="rect">
            <a:avLst/>
          </a:prstGeom>
          <a:solidFill>
            <a:srgbClr val="363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005072"/>
            <a:ext cx="4983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70" b="0">
                <a:solidFill>
                  <a:srgbClr val="A8B0AC"/>
                </a:solidFill>
                <a:latin typeface="PingFang SC"/>
              </a:rPr>
              <a:t>Codex 改变 Agent，AgentRig 把改变固化成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70" b="0">
                <a:solidFill>
                  <a:srgbClr val="A8B0AC"/>
                </a:solidFill>
                <a:latin typeface="PingFang SC"/>
              </a:rPr>
              <a:t>Case、Run、Timeline、Sample 与 Gate。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9944" y="1143000"/>
            <a:ext cx="5111496" cy="320954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editflow-04-accep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8232" y="1161288"/>
            <a:ext cx="5074920" cy="3172968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428232" y="4590288"/>
            <a:ext cx="2103120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2" y="4590288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EDITFLOW · 30 / 30 PASS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5074920"/>
            <a:ext cx="5029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A8B0AC"/>
                </a:solidFill>
                <a:latin typeface="PingFang SC"/>
              </a:rPr>
              <a:t>公开 Agent · 真实 Agno + DeepSeek · 本地可复现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28523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Helvetica Neue"/>
              </a:rPr>
              <a:t>EVIDENCE BEFORE CONFIDENCE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737A77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737A77"/>
                </a:solidFill>
                <a:latin typeface="Helvetica Neue"/>
              </a:rPr>
              <a:t>01 / 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一页纸速览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AgentRig：多 Agent 低副作用评测与回归平台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以 AgentTeams 为协同基点的三 Agent 评测编排；真实决策、受控副作用、可审计证据。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02 /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28800"/>
            <a:ext cx="5257800" cy="129844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05256" y="1975104"/>
            <a:ext cx="1691640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1975104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场景价值 25%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199339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50" b="1">
                <a:solidFill>
                  <a:srgbClr val="121617"/>
                </a:solidFill>
                <a:latin typeface="PingFang SC"/>
              </a:rPr>
              <a:t>Prompt/工具描述变更后的发布回归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" y="2487168"/>
            <a:ext cx="4846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60" b="0">
                <a:solidFill>
                  <a:srgbClr val="67706B"/>
                </a:solidFill>
                <a:latin typeface="PingFang SC"/>
              </a:rPr>
              <a:t>公开 EditFlow 全链 + 真实生产项目日常使用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828800"/>
            <a:ext cx="5257800" cy="129844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7376" y="1975104"/>
            <a:ext cx="1691640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1975104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多 Agent 协同 25%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199339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50" b="1">
                <a:solidFill>
                  <a:srgbClr val="121617"/>
                </a:solidFill>
                <a:latin typeface="PingFang SC"/>
              </a:rPr>
              <a:t>AgentTeams 三职能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376" y="2487168"/>
            <a:ext cx="4846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60" b="0">
                <a:solidFill>
                  <a:srgbClr val="67706B"/>
                </a:solidFill>
                <a:latin typeface="PingFang SC"/>
              </a:rPr>
              <a:t>Manager 规划 · Curator 受控模拟 · Judge 独立裁决（v1.1.2 历史 Live）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3310128"/>
            <a:ext cx="5257800" cy="129844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5256" y="3456432"/>
            <a:ext cx="1691640" cy="329184"/>
          </a:xfrm>
          <a:prstGeom prst="rect">
            <a:avLst/>
          </a:prstGeom>
          <a:solidFill>
            <a:srgbClr val="F8E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5256" y="3456432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Skill 工程 25%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88920" y="3474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50" b="1">
                <a:solidFill>
                  <a:srgbClr val="121617"/>
                </a:solidFill>
                <a:latin typeface="PingFang SC"/>
              </a:rPr>
              <a:t>11 个 Skill 合同 + PI 迭代存档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" y="3968496"/>
            <a:ext cx="4846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60" b="0">
                <a:solidFill>
                  <a:srgbClr val="67706B"/>
                </a:solidFill>
                <a:latin typeface="PingFang SC"/>
              </a:rPr>
              <a:t>输入输出/触发/依赖/失败/安全边界齐备,生产工程常态使用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3310128"/>
            <a:ext cx="5257800" cy="129844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7376" y="3456432"/>
            <a:ext cx="1691640" cy="329184"/>
          </a:xfrm>
          <a:prstGeom prst="rect">
            <a:avLst/>
          </a:prstGeom>
          <a:solidFill>
            <a:srgbClr val="F8E7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7376" y="3456432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C84438"/>
                </a:solidFill>
                <a:latin typeface="PingFang SC"/>
              </a:rPr>
              <a:t>工程落地 20% + 开源 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3474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50" b="1">
                <a:solidFill>
                  <a:srgbClr val="121617"/>
                </a:solidFill>
                <a:latin typeface="PingFang SC"/>
              </a:rPr>
              <a:t>可运行 · 可复现 · 可审计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37376" y="3968496"/>
            <a:ext cx="4846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60" b="0">
                <a:solidFill>
                  <a:srgbClr val="67706B"/>
                </a:solidFill>
                <a:latin typeface="PingFang SC"/>
              </a:rPr>
              <a:t>CI 全绿 · MIT 双仓公开 · SBOM/Gitleaks · 全部 ID 可回溯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800" y="4974336"/>
            <a:ext cx="10817352" cy="1207008"/>
          </a:xfrm>
          <a:prstGeom prst="rect">
            <a:avLst/>
          </a:prstGeom>
          <a:solidFill>
            <a:srgbClr val="171B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" y="5193792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Helvetica Neue"/>
              </a:rPr>
              <a:t>2/5 → 5/5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5687568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0">
                <a:solidFill>
                  <a:srgbClr val="A8B0AC"/>
                </a:solidFill>
                <a:latin typeface="PingFang SC"/>
              </a:rPr>
              <a:t>Before → Candidate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99815" y="5193792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Helvetica Neue"/>
              </a:rPr>
              <a:t>30 / 30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9815" y="5687568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0">
                <a:solidFill>
                  <a:srgbClr val="A8B0AC"/>
                </a:solidFill>
                <a:latin typeface="PingFang SC"/>
              </a:rPr>
              <a:t>六 Case 回归矩阵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39512" y="5193792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Helvetica Neue"/>
              </a:rPr>
              <a:t>5/5 · 0 真实调用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39512" y="5687568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0">
                <a:solidFill>
                  <a:srgbClr val="A8B0AC"/>
                </a:solidFill>
                <a:latin typeface="PingFang SC"/>
              </a:rPr>
              <a:t>Sample 回放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79208" y="5193792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Helvetica Neue"/>
              </a:rPr>
              <a:t>3 Agent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79208" y="5687568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0">
                <a:solidFill>
                  <a:srgbClr val="A8B0AC"/>
                </a:solidFill>
                <a:latin typeface="PingFang SC"/>
              </a:rPr>
              <a:t>AgentTeams 协同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18904" y="5193792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Helvetica Neue"/>
              </a:rPr>
              <a:t>11 + 8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18904" y="5687568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0">
                <a:solidFill>
                  <a:srgbClr val="A8B0AC"/>
                </a:solidFill>
                <a:latin typeface="PingFang SC"/>
              </a:rPr>
              <a:t>Skill 合同 + CI Job 全绿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6355080"/>
            <a:ext cx="10789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>
                <a:solidFill>
                  <a:srgbClr val="67706B"/>
                </a:solidFill>
                <a:latin typeface="PingFang SC"/>
              </a:rPr>
              <a:t>开发者 Codex/CLI 与普通用户 Web 助手共用同一条证据合同；完整证据台账见末页。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真实问题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Prompt 改一行，Agent 行为可能变五层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最终回答相似，不代表工具选择、参数、顺序和结果引用仍然正确。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03 /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956816"/>
            <a:ext cx="4160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1">
                <a:solidFill>
                  <a:srgbClr val="121617"/>
                </a:solidFill>
                <a:latin typeface="PingFang SC"/>
              </a:rPr>
              <a:t>一次成功 Demo，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1">
                <a:solidFill>
                  <a:srgbClr val="121617"/>
                </a:solidFill>
                <a:latin typeface="PingFang SC"/>
              </a:rPr>
              <a:t>不足以批准一次发布。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82112"/>
            <a:ext cx="388620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80" b="0">
                <a:solidFill>
                  <a:srgbClr val="67706B"/>
                </a:solidFill>
                <a:latin typeface="PingFang SC"/>
              </a:rPr>
              <a:t>Agent 的概率性与工具副作用，使传统单元测试和纯 Mock 都无法独立回答发布问题。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4572000"/>
            <a:ext cx="3931920" cy="694944"/>
          </a:xfrm>
          <a:prstGeom prst="rect">
            <a:avLst/>
          </a:prstGeom>
          <a:solidFill>
            <a:srgbClr val="171B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773168"/>
            <a:ext cx="35295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PingFang SC"/>
              </a:rPr>
              <a:t>目标：真实决策，受控执行，可审计结论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66360" y="1865376"/>
            <a:ext cx="53035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66360" y="1865376"/>
            <a:ext cx="53035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25312" y="1892807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>
                <a:solidFill>
                  <a:srgbClr val="121617"/>
                </a:solidFill>
                <a:latin typeface="PingFang SC"/>
              </a:rPr>
              <a:t>工具选择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1901952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调用哪个工具，是否过度路由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75504" y="2505456"/>
            <a:ext cx="589788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66360" y="2798064"/>
            <a:ext cx="53035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66360" y="2798064"/>
            <a:ext cx="53035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25312" y="2825496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>
                <a:solidFill>
                  <a:srgbClr val="121617"/>
                </a:solidFill>
                <a:latin typeface="PingFang SC"/>
              </a:rPr>
              <a:t>参数传播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2834640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人物保护、素材 ID、图片引用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75504" y="3438144"/>
            <a:ext cx="589788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66360" y="3730752"/>
            <a:ext cx="53035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66360" y="3730752"/>
            <a:ext cx="53035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25312" y="3758184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>
                <a:solidFill>
                  <a:srgbClr val="121617"/>
                </a:solidFill>
                <a:latin typeface="PingFang SC"/>
              </a:rPr>
              <a:t>调用顺序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69480" y="3767328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检查、修改、搜索、应用、裁剪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75504" y="4370832"/>
            <a:ext cx="589788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166360" y="4663440"/>
            <a:ext cx="53035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66360" y="4663440"/>
            <a:ext cx="53035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25312" y="4690872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>
                <a:solidFill>
                  <a:srgbClr val="121617"/>
                </a:solidFill>
                <a:latin typeface="PingFang SC"/>
              </a:rPr>
              <a:t>执行成本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69480" y="470001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图片、支付、发信与生产写入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175504" y="5303520"/>
            <a:ext cx="589788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产品边界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AgentRig 不替 Agent 回答，只治理评测边界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模型仍真实推理；工具结果来源、事实记录与裁决责任被独立控制。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04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04 /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1874519"/>
            <a:ext cx="3310128" cy="334670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69264" y="2103120"/>
            <a:ext cx="98755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" y="2103120"/>
            <a:ext cx="98755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TARGET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2670048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121617"/>
                </a:solidFill>
                <a:latin typeface="PingFang SC"/>
              </a:rPr>
              <a:t>真实被测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3273552"/>
            <a:ext cx="27432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7706B"/>
                </a:solidFill>
                <a:latin typeface="PingFang SC"/>
              </a:rPr>
              <a:t>模型推理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7706B"/>
                </a:solidFill>
                <a:latin typeface="PingFang SC"/>
              </a:rPr>
              <a:t>HTTP / SSE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7706B"/>
                </a:solidFill>
                <a:latin typeface="PingFang SC"/>
              </a:rPr>
              <a:t>Session 与工具选择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1012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35424" y="1874519"/>
            <a:ext cx="3310128" cy="334670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91456" y="2103120"/>
            <a:ext cx="987552" cy="329184"/>
          </a:xfrm>
          <a:prstGeom prst="rect">
            <a:avLst/>
          </a:prstGeom>
          <a:solidFill>
            <a:srgbClr val="F8E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91456" y="2103120"/>
            <a:ext cx="98755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CONTROL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91456" y="2670048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121617"/>
                </a:solidFill>
                <a:latin typeface="PingFang SC"/>
              </a:rPr>
              <a:t>工具结果 Provider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91456" y="3273552"/>
            <a:ext cx="27432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7706B"/>
                </a:solidFill>
                <a:latin typeface="PingFang SC"/>
              </a:rPr>
              <a:t>Fixture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7706B"/>
                </a:solidFill>
                <a:latin typeface="PingFang SC"/>
              </a:rPr>
              <a:t>审核 Sample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7706B"/>
                </a:solidFill>
                <a:latin typeface="PingFang SC"/>
              </a:rPr>
              <a:t>Simulator / Real Tool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6992" y="331012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57615" y="1874519"/>
            <a:ext cx="3310128" cy="334670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613647" y="2103120"/>
            <a:ext cx="987552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3647" y="2103120"/>
            <a:ext cx="98755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3647" y="2670048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121617"/>
                </a:solidFill>
                <a:latin typeface="PingFang SC"/>
              </a:rPr>
              <a:t>事实与裁决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13647" y="3273552"/>
            <a:ext cx="27432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7706B"/>
                </a:solidFill>
                <a:latin typeface="PingFang SC"/>
              </a:rPr>
              <a:t>Manifest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7706B"/>
                </a:solidFill>
                <a:latin typeface="PingFang SC"/>
              </a:rPr>
              <a:t>Cell / Attempt / Event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7706B"/>
                </a:solidFill>
                <a:latin typeface="PingFang SC"/>
              </a:rPr>
              <a:t>Rule / Judge / Human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93392" y="5522976"/>
            <a:ext cx="8211312" cy="502920"/>
          </a:xfrm>
          <a:prstGeom prst="rect">
            <a:avLst/>
          </a:prstGeom>
          <a:solidFill>
            <a:srgbClr val="171B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194560" y="5650992"/>
            <a:ext cx="7818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PingFang SC"/>
              </a:rPr>
              <a:t>保留决策真实性　｜　隔离工具副作用　｜　裁决不污染事实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平台闭环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Identity → Asset → Run → Evidence →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每一层都有稳定身份；历史 Run 不被修复动作覆盖。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05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05 /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1984248"/>
            <a:ext cx="1572768" cy="285292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23544" y="2221992"/>
            <a:ext cx="457200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222199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" y="279806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121617"/>
                </a:solidFill>
                <a:latin typeface="PingFang SC"/>
              </a:rPr>
              <a:t>Identity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3401568"/>
            <a:ext cx="117043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Target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Prompt SHA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Tool schema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32461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51176" y="1984248"/>
            <a:ext cx="1572768" cy="285292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70632" y="2221992"/>
            <a:ext cx="457200" cy="329184"/>
          </a:xfrm>
          <a:prstGeom prst="rect">
            <a:avLst/>
          </a:prstGeom>
          <a:solidFill>
            <a:srgbClr val="F8E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70632" y="222199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70632" y="279806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121617"/>
                </a:solidFill>
                <a:latin typeface="PingFang SC"/>
              </a:rPr>
              <a:t>Assets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70632" y="3401568"/>
            <a:ext cx="117043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Case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Profile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Sample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33087" y="32461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98264" y="1984248"/>
            <a:ext cx="1572768" cy="285292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17720" y="2221992"/>
            <a:ext cx="457200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17720" y="222199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279806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121617"/>
                </a:solidFill>
                <a:latin typeface="PingFang SC"/>
              </a:rPr>
              <a:t>Manifest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3401568"/>
            <a:ext cx="117043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Canonical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Preview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Hash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80176" y="32461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45352" y="1984248"/>
            <a:ext cx="1572768" cy="285292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64808" y="2221992"/>
            <a:ext cx="457200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64808" y="222199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4808" y="279806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121617"/>
                </a:solidFill>
                <a:latin typeface="PingFang SC"/>
              </a:rPr>
              <a:t>Execution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64808" y="3401568"/>
            <a:ext cx="117043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Cell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Attempt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Event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27264" y="32461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92440" y="1984248"/>
            <a:ext cx="1572768" cy="285292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311896" y="2221992"/>
            <a:ext cx="457200" cy="329184"/>
          </a:xfrm>
          <a:prstGeom prst="rect">
            <a:avLst/>
          </a:prstGeom>
          <a:solidFill>
            <a:srgbClr val="F8E7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11896" y="222199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C84438"/>
                </a:solidFill>
                <a:latin typeface="PingFang SC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1896" y="279806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121617"/>
                </a:solidFill>
                <a:latin typeface="PingFang SC"/>
              </a:rPr>
              <a:t>Decision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11896" y="3401568"/>
            <a:ext cx="117043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Rule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Judge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Human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74352" y="32461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939528" y="1984248"/>
            <a:ext cx="1572768" cy="285292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158984" y="2221992"/>
            <a:ext cx="457200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58984" y="222199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58984" y="279806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121617"/>
                </a:solidFill>
                <a:latin typeface="PingFang SC"/>
              </a:rPr>
              <a:t>Release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58984" y="3401568"/>
            <a:ext cx="117043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Report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Gate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Audit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65960" y="5340096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21617"/>
                </a:solidFill>
                <a:latin typeface="PingFang SC"/>
              </a:rPr>
              <a:t>同一事实链支持本地调试、团队评审、CI Gate 与生产回灌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5806440"/>
            <a:ext cx="8549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050" b="0">
                <a:solidFill>
                  <a:srgbClr val="67706B"/>
                </a:solidFill>
                <a:latin typeface="PingFang SC"/>
              </a:rPr>
              <a:t>不是一张绿色分数卡，而是一条可定位、可复跑、可追责的发布证据链。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双入口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不同能力可以给出不同方案，共享同一种证据合同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Codex 面向开发者闭环；Web 助手面向产品、运营与测试人员。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06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06 /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847088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DEVELOPER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121408"/>
            <a:ext cx="4663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>
                <a:solidFill>
                  <a:srgbClr val="121617"/>
                </a:solidFill>
                <a:latin typeface="PingFang SC"/>
              </a:rPr>
              <a:t>Codex + 项目 Skill + MCP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4944" y="2615184"/>
            <a:ext cx="5477256" cy="293522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odex-02-regression-verdi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633472"/>
            <a:ext cx="5440680" cy="2898648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13232" y="5632704"/>
            <a:ext cx="2651760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5632704"/>
            <a:ext cx="2651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主入口 · 真实会话 · run_33efe8…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82512" y="1828800"/>
            <a:ext cx="5120640" cy="388620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56832" y="2084831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17745A"/>
                </a:solidFill>
                <a:latin typeface="PingFang SC"/>
              </a:rPr>
              <a:t>PRODUCT / QA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56832" y="251460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>
                <a:solidFill>
                  <a:srgbClr val="121617"/>
                </a:solidFill>
                <a:latin typeface="PingFang SC"/>
              </a:rPr>
              <a:t>AgentRig 智能评测助手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832" y="3172968"/>
            <a:ext cx="4315968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130">
                <a:solidFill>
                  <a:srgbClr val="67706B"/>
                </a:solidFill>
                <a:latin typeface="PingFang SC"/>
              </a:defRPr>
            </a:pPr>
            <a:r>
              <a:t>•  自然语言描述评测目标和成本边界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130">
                <a:solidFill>
                  <a:srgbClr val="67706B"/>
                </a:solidFill>
                <a:latin typeface="PingFang SC"/>
              </a:defRPr>
            </a:pPr>
            <a:r>
              <a:t>•  模型生成自己的可编辑计划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130">
                <a:solidFill>
                  <a:srgbClr val="67706B"/>
                </a:solidFill>
                <a:latin typeface="PingFang SC"/>
              </a:defRPr>
            </a:pPr>
            <a:r>
              <a:t>•  高成本执行必须人工确认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130">
                <a:solidFill>
                  <a:srgbClr val="67706B"/>
                </a:solidFill>
                <a:latin typeface="PingFang SC"/>
              </a:defRPr>
            </a:pPr>
            <a:r>
              <a:t>•  复用 Target、Case、Run 与报告资产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56832" y="5093208"/>
            <a:ext cx="2148840" cy="329184"/>
          </a:xfrm>
          <a:prstGeom prst="rect">
            <a:avLst/>
          </a:prstGeom>
          <a:solidFill>
            <a:srgbClr val="F8E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56832" y="5093208"/>
            <a:ext cx="2148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辅助入口 · 无需 MCP 知识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40" y="5971032"/>
            <a:ext cx="84124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050" b="1">
                <a:solidFill>
                  <a:srgbClr val="67706B"/>
                </a:solidFill>
                <a:latin typeface="PingFang SC"/>
              </a:rPr>
              <a:t>不要求两种模型生成同一方案；要求每个结论都能回到冻结资产和运行证据。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多 Agent 协同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以 AgentTeams 为基点的三职能 Agent 设计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Agent 分工、任务拆解、上下文传递、结果验证、异常分支与安全边界一页讲清。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07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07 /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28800"/>
            <a:ext cx="3520440" cy="239572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05256" y="2029968"/>
            <a:ext cx="1005840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029968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MANAGER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487168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121617"/>
                </a:solidFill>
                <a:latin typeface="PingFang SC"/>
              </a:rPr>
              <a:t>Evaluation Manager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" y="2871216"/>
            <a:ext cx="312724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40" b="0">
                <a:solidFill>
                  <a:srgbClr val="2B312F"/>
                </a:solidFill>
                <a:latin typeface="PingFang SC"/>
              </a:rPr>
              <a:t>目标理解 → 资产选择 → EvaluationPlan → 确认后提交 → 诊断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6" y="3675887"/>
            <a:ext cx="312724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80" b="0">
                <a:solidFill>
                  <a:srgbClr val="285CF5"/>
                </a:solidFill>
                <a:latin typeface="PingFang SC"/>
              </a:rPr>
              <a:t>常驻规划;不能绕过人工确认,不能伪造 Run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0" y="1828800"/>
            <a:ext cx="3520440" cy="239572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608576" y="2029968"/>
            <a:ext cx="1005840" cy="329184"/>
          </a:xfrm>
          <a:prstGeom prst="rect">
            <a:avLst/>
          </a:prstGeom>
          <a:solidFill>
            <a:srgbClr val="F8E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08576" y="2029968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CURATOR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08576" y="2487168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121617"/>
                </a:solidFill>
                <a:latin typeface="PingFang SC"/>
              </a:rPr>
              <a:t>Simulation Curator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08576" y="2871216"/>
            <a:ext cx="312724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40" b="0">
                <a:solidFill>
                  <a:srgbClr val="2B312F"/>
                </a:solidFill>
                <a:latin typeface="PingFang SC"/>
              </a:rPr>
              <a:t>领取 invocation → 读取脱敏冻结输入 → 生成 Schema 合法模拟结果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08576" y="3675887"/>
            <a:ext cx="312724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80" b="0">
                <a:solidFill>
                  <a:srgbClr val="A76509"/>
                </a:solidFill>
                <a:latin typeface="PingFang SC"/>
              </a:rPr>
              <a:t>条件触发;读不到 rubric,不为“通过评测”优化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92440" y="1828800"/>
            <a:ext cx="3520440" cy="239572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311896" y="2029968"/>
            <a:ext cx="1005840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11896" y="2029968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JUDGE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1896" y="2487168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121617"/>
                </a:solidFill>
                <a:latin typeface="PingFang SC"/>
              </a:rPr>
              <a:t>Evidence Judge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11896" y="2871216"/>
            <a:ext cx="312724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40" b="0">
                <a:solidFill>
                  <a:srgbClr val="2B312F"/>
                </a:solidFill>
                <a:latin typeface="PingFang SC"/>
              </a:rPr>
              <a:t>冻结 rubric + 脱敏证据 → pass/fail/inconclusive + 事件引用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11896" y="3675887"/>
            <a:ext cx="312724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80" b="0">
                <a:solidFill>
                  <a:srgbClr val="17745A"/>
                </a:solidFill>
                <a:latin typeface="PingFang SC"/>
              </a:rPr>
              <a:t>条件触发;不遵循被测输出指令,不覆盖 Rule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" y="4498848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50" b="1">
                <a:solidFill>
                  <a:srgbClr val="121617"/>
                </a:solidFill>
                <a:latin typeface="PingFang SC"/>
              </a:rPr>
              <a:t>任务拆解与上下文传递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" y="4828032"/>
            <a:ext cx="63093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0">
                <a:solidFill>
                  <a:srgbClr val="67706B"/>
                </a:solidFill>
                <a:latin typeface="PingFang SC"/>
              </a:rPr>
              <a:t>用户目标 → Manager 拆解为 Plan/Matrix → Curator/Judge 以受控 invocation 领取任务;上下文按角色隔离传递:Curator 只见冻结输入,Judge 只见冻结 rubric 与脱敏证据,彼此不可见;全部往返以 Matrix request/response 事件 ID 进入 Timeline。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60920" y="4498848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50" b="1">
                <a:solidFill>
                  <a:srgbClr val="121617"/>
                </a:solidFill>
                <a:latin typeface="PingFang SC"/>
              </a:rPr>
              <a:t>结果验证与异常分支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60920" y="4828032"/>
            <a:ext cx="41148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60" b="0">
                <a:solidFill>
                  <a:srgbClr val="67706B"/>
                </a:solidFill>
                <a:latin typeface="PingFang SC"/>
              </a:rPr>
              <a:t>Rule 先做确定性验证,Judge 只补语义裁决;角色失败返回结构化错误而非伪造结果;超时/不可用走 fail-closed 门禁;Case/Sample 审批只在 Web 人工入口,MCP 无此权限。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协同实证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三角色协同的真实 Live 链与诚实状态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协同不是纸面设计:完整三角色闭环已在 AgentTeams v1.1.2 真实运行。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08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08 /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47088"/>
            <a:ext cx="6766560" cy="3291840"/>
          </a:xfrm>
          <a:prstGeom prst="rect">
            <a:avLst/>
          </a:prstGeom>
          <a:solidFill>
            <a:srgbClr val="0E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121408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1">
                <a:solidFill>
                  <a:srgbClr val="80A9FF"/>
                </a:solidFill>
                <a:latin typeface="Menlo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121408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PingFang SC"/>
              </a:rPr>
              <a:t>用户确认目标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121408"/>
            <a:ext cx="3474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40" b="0">
                <a:solidFill>
                  <a:srgbClr val="A8B0AC"/>
                </a:solidFill>
                <a:latin typeface="PingFang SC"/>
              </a:rPr>
              <a:t>EvaluationPlan revision 建立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706624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1">
                <a:solidFill>
                  <a:srgbClr val="80A9FF"/>
                </a:solidFill>
                <a:latin typeface="Menlo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706624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PingFang SC"/>
              </a:rPr>
              <a:t>Manager 提交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2706624"/>
            <a:ext cx="3474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40" b="0">
                <a:solidFill>
                  <a:srgbClr val="A8B0AC"/>
                </a:solidFill>
                <a:latin typeface="PingFang SC"/>
              </a:rPr>
              <a:t>Plan → Matrix request 任务拆解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291839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1">
                <a:solidFill>
                  <a:srgbClr val="80A9FF"/>
                </a:solidFill>
                <a:latin typeface="Menlo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291839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PingFang SC"/>
              </a:rPr>
              <a:t>Curator/Judge 领取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3291839"/>
            <a:ext cx="3474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40" b="0">
                <a:solidFill>
                  <a:srgbClr val="A8B0AC"/>
                </a:solidFill>
                <a:latin typeface="PingFang SC"/>
              </a:rPr>
              <a:t>role MCP invocation·上下文隔离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877056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1">
                <a:solidFill>
                  <a:srgbClr val="80A9FF"/>
                </a:solidFill>
                <a:latin typeface="Menlo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3877056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PingFang SC"/>
              </a:rPr>
              <a:t>Matrix response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0" y="3877056"/>
            <a:ext cx="3474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40" b="0">
                <a:solidFill>
                  <a:srgbClr val="A8B0AC"/>
                </a:solidFill>
                <a:latin typeface="PingFang SC"/>
              </a:rPr>
              <a:t>候选结果/裁决 + 结构化失败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462272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1">
                <a:solidFill>
                  <a:srgbClr val="80A9FF"/>
                </a:solidFill>
                <a:latin typeface="Menlo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462272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PingFang SC"/>
              </a:rPr>
              <a:t>证据合同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4462272"/>
            <a:ext cx="3474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40" b="0">
                <a:solidFill>
                  <a:srgbClr val="A8B0AC"/>
                </a:solidFill>
                <a:latin typeface="PingFang SC"/>
              </a:rPr>
              <a:t>Rule + Judge evidence refs 入 Timeline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26679" y="1847088"/>
            <a:ext cx="3776472" cy="1481328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79" y="2029968"/>
            <a:ext cx="1828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17745A"/>
                </a:solidFill>
                <a:latin typeface="PingFang SC"/>
              </a:rPr>
              <a:t>已完成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79" y="2340864"/>
            <a:ext cx="33832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17745A"/>
                </a:solidFill>
                <a:latin typeface="PingFang SC"/>
              </a:rPr>
              <a:t>AgentTeams v1.1.2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17745A"/>
                </a:solidFill>
                <a:latin typeface="PingFang SC"/>
              </a:rPr>
              <a:t>三角色历史 Live 闭环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26679" y="3529584"/>
            <a:ext cx="3776472" cy="1609344"/>
          </a:xfrm>
          <a:prstGeom prst="rect">
            <a:avLst/>
          </a:prstGeom>
          <a:solidFill>
            <a:srgbClr val="F8E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55279" y="3694176"/>
            <a:ext cx="1828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A76509"/>
                </a:solidFill>
                <a:latin typeface="PingFang SC"/>
              </a:rPr>
              <a:t>诚实状态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55279" y="4005072"/>
            <a:ext cx="3429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A76509"/>
                </a:solidFill>
                <a:latin typeface="PingFang SC"/>
              </a:rPr>
              <a:t>v1.2.2 双基线兼容包已实现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A76509"/>
                </a:solidFill>
                <a:latin typeface="PingFang SC"/>
              </a:rPr>
              <a:t>外部集群 Live 观测 Pending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A76509"/>
                </a:solidFill>
                <a:latin typeface="PingFang SC"/>
              </a:rPr>
              <a:t>不用旧证据冒充新版本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" y="5413248"/>
            <a:ext cx="10817352" cy="841248"/>
          </a:xfrm>
          <a:prstGeom prst="rect">
            <a:avLst/>
          </a:prstGeom>
          <a:solidFill>
            <a:srgbClr val="171B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5614416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PingFang SC"/>
              </a:rPr>
              <a:t>Manager 常驻规划;Curator / Judge 按场景条件触发;确定性 Rule / Fixture 是低成本快速路径——不为参赛形式把三角色塞进每个 Run,但每个结论都进入同一条证据合同。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公开被测对象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EditFlow：可公开、可复现、仍然足够真实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以 lassist 的真实修图链路为基础，去除私有素材、版本与基础设施依赖。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09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09 /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1847088"/>
            <a:ext cx="3840480" cy="4114800"/>
          </a:xfrm>
          <a:prstGeom prst="rect">
            <a:avLst/>
          </a:prstGeom>
          <a:solidFill>
            <a:srgbClr val="171B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78408" y="2121408"/>
            <a:ext cx="1508760" cy="329184"/>
          </a:xfrm>
          <a:prstGeom prst="rect">
            <a:avLst/>
          </a:prstGeom>
          <a:solidFill>
            <a:srgbClr val="1D2B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2121408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80A9FF"/>
                </a:solidFill>
                <a:latin typeface="PingFang SC"/>
              </a:rPr>
              <a:t>OPEN DEMO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68833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PingFang SC"/>
              </a:rPr>
              <a:t>Agno + DeepSeek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3346704"/>
            <a:ext cx="3017520" cy="1481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50" b="0">
                <a:solidFill>
                  <a:srgbClr val="CFD4D1"/>
                </a:solidFill>
                <a:latin typeface="PingFang SC"/>
              </a:rPr>
              <a:t>PostgreSQL Session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50" b="0">
                <a:solidFill>
                  <a:srgbClr val="CFD4D1"/>
                </a:solidFill>
                <a:latin typeface="PingFang SC"/>
              </a:rPr>
              <a:t>HTTP/SSE Target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50" b="0">
                <a:solidFill>
                  <a:srgbClr val="CFD4D1"/>
                </a:solidFill>
                <a:latin typeface="PingFang SC"/>
              </a:rPr>
              <a:t>External tool execution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50" b="0">
                <a:solidFill>
                  <a:srgbClr val="CFD4D1"/>
                </a:solidFill>
                <a:latin typeface="PingFang SC"/>
              </a:rPr>
              <a:t>Local deterministic MCP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" y="5330952"/>
            <a:ext cx="3154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1">
                <a:solidFill>
                  <a:srgbClr val="8EA5FF"/>
                </a:solidFill>
                <a:latin typeface="PingFang SC"/>
              </a:rPr>
              <a:t>不上传图片 · 不调用第三方图片 API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56048" y="1856231"/>
            <a:ext cx="43891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856231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50992" y="1874519"/>
            <a:ext cx="196596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>
                <a:solidFill>
                  <a:srgbClr val="121617"/>
                </a:solidFill>
                <a:latin typeface="Menlo"/>
              </a:rPr>
              <a:t>inspect_image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54112" y="1883663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>
                <a:solidFill>
                  <a:srgbClr val="67706B"/>
                </a:solidFill>
                <a:latin typeface="PingFang SC"/>
              </a:rPr>
              <a:t>读取图片属性与主体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56048" y="2404872"/>
            <a:ext cx="617220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56048" y="2624327"/>
            <a:ext cx="43891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56048" y="2624327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50992" y="2642615"/>
            <a:ext cx="196596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>
                <a:solidFill>
                  <a:srgbClr val="121617"/>
                </a:solidFill>
                <a:latin typeface="Menlo"/>
              </a:rPr>
              <a:t>retouch_photo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54112" y="2651759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>
                <a:solidFill>
                  <a:srgbClr val="67706B"/>
                </a:solidFill>
                <a:latin typeface="PingFang SC"/>
              </a:rPr>
              <a:t>亮度、对比度等像素调整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56048" y="3172968"/>
            <a:ext cx="617220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956048" y="3392424"/>
            <a:ext cx="43891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56048" y="3392424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50992" y="3410712"/>
            <a:ext cx="196596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>
                <a:solidFill>
                  <a:srgbClr val="121617"/>
                </a:solidFill>
                <a:latin typeface="Menlo"/>
              </a:rPr>
              <a:t>search_assets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54112" y="3419856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>
                <a:solidFill>
                  <a:srgbClr val="67706B"/>
                </a:solidFill>
                <a:latin typeface="PingFang SC"/>
              </a:rPr>
              <a:t>搜索受控素材并返回真实 ID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956048" y="3941063"/>
            <a:ext cx="617220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956048" y="4160520"/>
            <a:ext cx="43891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56048" y="4160520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50992" y="4178807"/>
            <a:ext cx="196596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>
                <a:solidFill>
                  <a:srgbClr val="121617"/>
                </a:solidFill>
                <a:latin typeface="Menlo"/>
              </a:rPr>
              <a:t>apply_asset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112" y="418795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>
                <a:solidFill>
                  <a:srgbClr val="67706B"/>
                </a:solidFill>
                <a:latin typeface="PingFang SC"/>
              </a:rPr>
              <a:t>消费素材 ID 与最新图片引用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56048" y="4709159"/>
            <a:ext cx="617220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956048" y="4928616"/>
            <a:ext cx="43891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56048" y="4928616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50992" y="4946903"/>
            <a:ext cx="196596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>
                <a:solidFill>
                  <a:srgbClr val="121617"/>
                </a:solidFill>
                <a:latin typeface="Menlo"/>
              </a:rPr>
              <a:t>crop_photo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54112" y="4956048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>
                <a:solidFill>
                  <a:srgbClr val="67706B"/>
                </a:solidFill>
                <a:latin typeface="PingFang SC"/>
              </a:rPr>
              <a:t>按目标比例裁剪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56048" y="5477255"/>
            <a:ext cx="617220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956048" y="5715000"/>
            <a:ext cx="6172200" cy="384048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02352" y="5806440"/>
            <a:ext cx="58704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17745A"/>
                </a:solidFill>
                <a:latin typeface="PingFang SC"/>
              </a:rPr>
              <a:t>真实：模型、协议、Session、工具决策　｜　受控：图片工具结果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真实回归 · Before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同一冻结 Case 跑 5 次：2 Pass / 3 Behavior Fail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单次成功掩盖模型方差；父 Run completed 不等于业务验收通过。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10 /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1847088"/>
            <a:ext cx="3886200" cy="4315968"/>
          </a:xfrm>
          <a:prstGeom prst="rect">
            <a:avLst/>
          </a:prstGeom>
          <a:solidFill>
            <a:srgbClr val="171B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112264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HEADLINE TASK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651760"/>
            <a:ext cx="3108960" cy="1353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PingFang SC"/>
              </a:rPr>
              <a:t>一步完成调亮、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PingFang SC"/>
              </a:rPr>
              <a:t>雪山背景与 4:5 裁剪，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PingFang SC"/>
              </a:rPr>
              <a:t>并保持人物。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626864"/>
            <a:ext cx="3108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30" b="0">
                <a:solidFill>
                  <a:srgbClr val="AAB3AF"/>
                </a:solidFill>
                <a:latin typeface="Menlo"/>
              </a:rPr>
              <a:t>case_editflow_one_step_mixed_chain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5193792"/>
            <a:ext cx="2971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30" b="0">
                <a:solidFill>
                  <a:srgbClr val="AAB3AF"/>
                </a:solidFill>
                <a:latin typeface="Menlo"/>
              </a:rPr>
              <a:t>Manifest  bb5008e6…6766aa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5559552"/>
            <a:ext cx="2971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30" b="0">
                <a:solidFill>
                  <a:srgbClr val="AAB3AF"/>
                </a:solidFill>
                <a:latin typeface="Menlo"/>
              </a:rPr>
              <a:t>Prompt SHA 43157c…9572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2029968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17745A"/>
                </a:solidFill>
                <a:latin typeface="Helvetica Neu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251460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Pass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01968" y="2029968"/>
            <a:ext cx="1554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C84438"/>
                </a:solidFill>
                <a:latin typeface="Helvetica Neu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1968" y="2514600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Behavior Fail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029968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285CF5"/>
                </a:solidFill>
                <a:latin typeface="Helvetica Neue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2514600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Independent Attempts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02352" y="3035808"/>
            <a:ext cx="594360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20640" y="3401568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C84438"/>
                </a:solidFill>
                <a:latin typeface="PingFang SC"/>
              </a:rPr>
              <a:t>失败轨迹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0" y="3822191"/>
            <a:ext cx="5925312" cy="1097280"/>
          </a:xfrm>
          <a:prstGeom prst="rect">
            <a:avLst/>
          </a:prstGeom>
          <a:solidFill>
            <a:srgbClr val="F8E7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76672" y="4096512"/>
            <a:ext cx="53949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120" b="1">
                <a:solidFill>
                  <a:srgbClr val="C84438"/>
                </a:solidFill>
                <a:latin typeface="Menlo"/>
              </a:rPr>
              <a:t>retouch_photo  →  inspect_image  →  search_assets  →  apply_asset  →  crop_photo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5221224"/>
            <a:ext cx="5897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1">
                <a:solidFill>
                  <a:srgbClr val="2B312F"/>
                </a:solidFill>
                <a:latin typeface="PingFang SC"/>
              </a:rPr>
              <a:t>检查有时落在调亮之后，违反“先检查再修改”的冻结行为契约。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5742432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40" b="0">
                <a:solidFill>
                  <a:srgbClr val="67706B"/>
                </a:solidFill>
                <a:latin typeface="Menlo"/>
              </a:rPr>
              <a:t>Run  run_61e76493…8d9c03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Codex + Skill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不是盲目增加用例，而是按 Prompt Diff 治理风险并沉淀存档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项目 Skill 先冻结身份与不变量、分类资产，最终把整次迭代固化为 PI 存档。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11 /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1874519"/>
            <a:ext cx="2450592" cy="196596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41832" y="2103120"/>
            <a:ext cx="841248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103120"/>
            <a:ext cx="84124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REUSE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2679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21617"/>
                </a:solidFill>
                <a:latin typeface="PingFang SC"/>
              </a:rPr>
              <a:t>复用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163824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已有用例已覆盖，直接进入矩阵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56432" y="1874519"/>
            <a:ext cx="2450592" cy="196596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85032" y="2103120"/>
            <a:ext cx="841248" cy="329184"/>
          </a:xfrm>
          <a:prstGeom prst="rect">
            <a:avLst/>
          </a:prstGeom>
          <a:solidFill>
            <a:srgbClr val="F8E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85032" y="2103120"/>
            <a:ext cx="84124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CHANGE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85032" y="2679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21617"/>
                </a:solidFill>
                <a:latin typeface="PingFang SC"/>
              </a:rPr>
              <a:t>增强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85032" y="3163824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行为契约变化，增强现有断言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9632" y="1874519"/>
            <a:ext cx="2450592" cy="196596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28232" y="2103120"/>
            <a:ext cx="841248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2" y="2103120"/>
            <a:ext cx="84124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NEW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28232" y="2679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21617"/>
                </a:solidFill>
                <a:latin typeface="PingFang SC"/>
              </a:rPr>
              <a:t>新增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8232" y="3163824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变更引入新风险，现场创建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42832" y="1874519"/>
            <a:ext cx="2450592" cy="196596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71432" y="2103120"/>
            <a:ext cx="841248" cy="329184"/>
          </a:xfrm>
          <a:prstGeom prst="rect">
            <a:avLst/>
          </a:prstGeom>
          <a:solidFill>
            <a:srgbClr val="EC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71432" y="2103120"/>
            <a:ext cx="84124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67706B"/>
                </a:solidFill>
                <a:latin typeface="PingFang SC"/>
              </a:rPr>
              <a:t>EXCLUDE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71432" y="2679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21617"/>
                </a:solidFill>
                <a:latin typeface="PingFang SC"/>
              </a:rPr>
              <a:t>排除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71432" y="3163824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与本次 Prompt Diff 无关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4944" y="4078224"/>
            <a:ext cx="6025896" cy="2130552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skill-pi-arch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4096512"/>
            <a:ext cx="5989320" cy="209397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086600" y="409651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121617"/>
                </a:solidFill>
                <a:latin typeface="PingFang SC"/>
              </a:rPr>
              <a:t>本次防回归矩阵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04888" y="4498848"/>
            <a:ext cx="7132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Change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0" y="4498848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60" b="0">
                <a:solidFill>
                  <a:srgbClr val="2B312F"/>
                </a:solidFill>
                <a:latin typeface="PingFang SC"/>
              </a:rPr>
              <a:t>brighten_only 不过度路由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04888" y="4818888"/>
            <a:ext cx="7132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Change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0" y="4818888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60" b="0">
                <a:solidFill>
                  <a:srgbClr val="2B312F"/>
                </a:solidFill>
                <a:latin typeface="PingFang SC"/>
              </a:rPr>
              <a:t>asset miss 不编造 asset_id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04888" y="5138928"/>
            <a:ext cx="7132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Change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63840" y="5138928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60" b="0">
                <a:solidFill>
                  <a:srgbClr val="2B312F"/>
                </a:solidFill>
                <a:latin typeface="PingFang SC"/>
              </a:rPr>
              <a:t>preserve_subject 跨工具传播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04888" y="5458968"/>
            <a:ext cx="7132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New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5458968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60" b="0">
                <a:solidFill>
                  <a:srgbClr val="2B312F"/>
                </a:solidFill>
                <a:latin typeface="PingFang SC"/>
              </a:rPr>
              <a:t>一步完成不破坏专用工具边界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086600" y="5833872"/>
            <a:ext cx="4389120" cy="457200"/>
          </a:xfrm>
          <a:prstGeom prst="rect">
            <a:avLst/>
          </a:prstGeom>
          <a:solidFill>
            <a:srgbClr val="F8E7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69480" y="5888736"/>
            <a:ext cx="4069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1">
                <a:solidFill>
                  <a:srgbClr val="C84438"/>
                </a:solidFill>
                <a:latin typeface="PingFang SC"/>
              </a:rPr>
              <a:t>Draft → 人工审核 → approved；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1">
                <a:solidFill>
                  <a:srgbClr val="C84438"/>
                </a:solidFill>
                <a:latin typeface="PingFang SC"/>
              </a:rPr>
              <a:t>创建者不能批准自己创建的资产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3232" y="6272784"/>
            <a:ext cx="6035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0">
                <a:solidFill>
                  <a:srgbClr val="67706B"/>
                </a:solidFill>
                <a:latin typeface="Menlo"/>
              </a:rPr>
              <a:t>迭代存档 docs/prompt-iterations/PI-20260814-01：before/after Prompt · 身份 · 用例 · Run · 指标 · 报告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最小修复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只改模型可见边界，并用 Prompt SHA 证明 Candidate 已生效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HTTP/SSE 适配层没有加入关键词路由，也没有为视频写死答案。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12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12 /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" y="1837943"/>
            <a:ext cx="6665976" cy="356616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odex-01-skill-s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856231"/>
            <a:ext cx="6629400" cy="35295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13232" y="5541264"/>
            <a:ext cx="6629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0">
                <a:solidFill>
                  <a:srgbClr val="67706B"/>
                </a:solidFill>
                <a:latin typeface="Menlo"/>
              </a:rPr>
              <a:t>真实 Codex 会话：读取 Skill → MCP 冻结身份 → 最小 Prompt Diff（修改范围：system.md + tool description）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196596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C84438"/>
                </a:solidFill>
                <a:latin typeface="PingFang SC"/>
              </a:rPr>
              <a:t>BEFORE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2404872"/>
            <a:ext cx="312724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C84438"/>
                </a:solidFill>
                <a:latin typeface="Menlo"/>
              </a:rPr>
              <a:t>43157c…9572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2999232"/>
            <a:ext cx="324612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0" y="3364992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17745A"/>
                </a:solidFill>
                <a:latin typeface="PingFang SC"/>
              </a:rPr>
              <a:t>CANDIDATE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3803904"/>
            <a:ext cx="312724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7745A"/>
                </a:solidFill>
                <a:latin typeface="Menlo"/>
              </a:rPr>
              <a:t>71adb3…f7fd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0" y="4599432"/>
            <a:ext cx="3246120" cy="713232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73568" y="4773168"/>
            <a:ext cx="2834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17745A"/>
                </a:solidFill>
                <a:latin typeface="PingFang SC"/>
              </a:rPr>
              <a:t>SHA 不变，Candidate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17745A"/>
                </a:solidFill>
                <a:latin typeface="PingFang SC"/>
              </a:rPr>
              <a:t>就没有验收资格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5678424"/>
            <a:ext cx="32461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000" b="1">
                <a:solidFill>
                  <a:srgbClr val="67706B"/>
                </a:solidFill>
                <a:latin typeface="PingFang SC"/>
              </a:rPr>
              <a:t>仓库门禁：34 tests passed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Candidate 回归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同 Case 5/5；六 Case 矩阵 30/30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每次 Attempt 都独立执行；没有用一个绿色总分掩盖方差。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13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13 /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" y="1792224"/>
            <a:ext cx="8403336" cy="4645152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ditflow-02-candidate-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810512"/>
            <a:ext cx="8366760" cy="46085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372600" y="1956816"/>
            <a:ext cx="822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285CF5"/>
                </a:solidFill>
                <a:latin typeface="Helvetica Neue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72600" y="2441448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Cells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14432" y="1956816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285CF5"/>
                </a:solidFill>
                <a:latin typeface="Helvetica Neue"/>
              </a:rPr>
              <a:t>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14432" y="2441448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Attempts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54312" y="2926080"/>
            <a:ext cx="1993392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72600" y="3264408"/>
            <a:ext cx="914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17745A"/>
                </a:solidFill>
                <a:latin typeface="Helvetica Neue"/>
              </a:rPr>
              <a:t>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2600" y="3749039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Pass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14432" y="3264408"/>
            <a:ext cx="914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C84438"/>
                </a:solidFill>
                <a:latin typeface="Helvetica Neue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14432" y="3749039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Fail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54312" y="4325112"/>
            <a:ext cx="1993392" cy="1005840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28048" y="4535424"/>
            <a:ext cx="16459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>
                <a:solidFill>
                  <a:srgbClr val="17745A"/>
                </a:solidFill>
                <a:latin typeface="PingFang SC"/>
              </a:rPr>
              <a:t>headline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>
                <a:solidFill>
                  <a:srgbClr val="17745A"/>
                </a:solidFill>
                <a:latin typeface="PingFang SC"/>
              </a:rPr>
              <a:t>2 / 5 → 5 /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54312" y="5650992"/>
            <a:ext cx="19933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30" b="0">
                <a:solidFill>
                  <a:srgbClr val="67706B"/>
                </a:solidFill>
                <a:latin typeface="Menlo"/>
              </a:rPr>
              <a:t>run_3afacf…4793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行为证据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不只验证最终文字：完整 Timeline 可以下钻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工具参数、Provider 来源、结果引用与裁决都关联同一 Attempt。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14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14 /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" y="1792224"/>
            <a:ext cx="8220455" cy="4645152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ditflow-03-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810512"/>
            <a:ext cx="8183879" cy="4608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9189720" y="1901952"/>
            <a:ext cx="402336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89720" y="1901952"/>
            <a:ext cx="40233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02368" y="1947672"/>
            <a:ext cx="1508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121617"/>
                </a:solidFill>
                <a:latin typeface="Menlo"/>
              </a:rPr>
              <a:t>inspect_image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89720" y="2523744"/>
            <a:ext cx="402336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89720" y="2523744"/>
            <a:ext cx="40233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02368" y="2569464"/>
            <a:ext cx="1508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121617"/>
                </a:solidFill>
                <a:latin typeface="Menlo"/>
              </a:rPr>
              <a:t>search_assets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89720" y="3145536"/>
            <a:ext cx="402336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89720" y="3145536"/>
            <a:ext cx="40233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02368" y="3191256"/>
            <a:ext cx="1508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121617"/>
                </a:solidFill>
                <a:latin typeface="Menlo"/>
              </a:rPr>
              <a:t>retouch_photo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89720" y="3767328"/>
            <a:ext cx="402336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89720" y="3767328"/>
            <a:ext cx="40233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02368" y="3813048"/>
            <a:ext cx="1508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121617"/>
                </a:solidFill>
                <a:latin typeface="Menlo"/>
              </a:rPr>
              <a:t>apply_asset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89720" y="4389120"/>
            <a:ext cx="402336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89720" y="4389120"/>
            <a:ext cx="40233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02368" y="4434840"/>
            <a:ext cx="1508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121617"/>
                </a:solidFill>
                <a:latin typeface="Menlo"/>
              </a:rPr>
              <a:t>crop_photo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89720" y="5102352"/>
            <a:ext cx="2084831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89720" y="5376672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1">
                <a:solidFill>
                  <a:srgbClr val="17745A"/>
                </a:solidFill>
                <a:latin typeface="PingFang SC"/>
              </a:rPr>
              <a:t>✓ asset_id 来自搜索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1">
                <a:solidFill>
                  <a:srgbClr val="17745A"/>
                </a:solidFill>
                <a:latin typeface="PingFang SC"/>
              </a:rPr>
              <a:t>✓ preserve_subject 传播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1">
                <a:solidFill>
                  <a:srgbClr val="17745A"/>
                </a:solidFill>
                <a:latin typeface="PingFang SC"/>
              </a:rPr>
              <a:t>✓ image_ref 逐步更新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低副作用核心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真实工具结果，如何变成可审核的零真实调用回归资产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真实来源、人工责任和重复成本被放进同一条证据链。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15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15 /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1920240"/>
            <a:ext cx="1938528" cy="324612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32688" y="2176272"/>
            <a:ext cx="43891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176272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77063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21617"/>
                </a:solidFill>
                <a:latin typeface="PingFang SC"/>
              </a:rPr>
              <a:t>Capture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3355848"/>
            <a:ext cx="14813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真实 MCP 调用 1 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288536"/>
            <a:ext cx="1481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9" b="1">
                <a:solidFill>
                  <a:srgbClr val="285CF5"/>
                </a:solidFill>
                <a:latin typeface="Menlo"/>
              </a:rPr>
              <a:t>run_db173d…59ef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42615" y="331927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26080" y="1920240"/>
            <a:ext cx="1938528" cy="324612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145536" y="2176272"/>
            <a:ext cx="438912" cy="329184"/>
          </a:xfrm>
          <a:prstGeom prst="rect">
            <a:avLst/>
          </a:prstGeom>
          <a:solidFill>
            <a:srgbClr val="F8E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45536" y="2176272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45536" y="277063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21617"/>
                </a:solidFill>
                <a:latin typeface="PingFang SC"/>
              </a:rPr>
              <a:t>Event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45536" y="3355848"/>
            <a:ext cx="14813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持久化 real_tool 事实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536" y="4288536"/>
            <a:ext cx="1481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9" b="1">
                <a:solidFill>
                  <a:srgbClr val="A76509"/>
                </a:solidFill>
                <a:latin typeface="Menlo"/>
              </a:rPr>
              <a:t>evt_32fb37…f80d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55464" y="331927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38928" y="1920240"/>
            <a:ext cx="1938528" cy="324612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58384" y="2176272"/>
            <a:ext cx="43891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58384" y="2176272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58384" y="277063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21617"/>
                </a:solidFill>
                <a:latin typeface="PingFang SC"/>
              </a:rPr>
              <a:t>Sample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58384" y="3355848"/>
            <a:ext cx="14813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Agent 创建 Draft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58384" y="4288536"/>
            <a:ext cx="1481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9" b="1">
                <a:solidFill>
                  <a:srgbClr val="285CF5"/>
                </a:solidFill>
                <a:latin typeface="Menlo"/>
              </a:rPr>
              <a:t>sample_9344…1339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68312" y="331927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51775" y="1920240"/>
            <a:ext cx="1938528" cy="324612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71231" y="2176272"/>
            <a:ext cx="438912" cy="329184"/>
          </a:xfrm>
          <a:prstGeom prst="rect">
            <a:avLst/>
          </a:prstGeom>
          <a:solidFill>
            <a:srgbClr val="F8E7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71231" y="2176272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C84438"/>
                </a:solidFill>
                <a:latin typeface="PingFang SC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71231" y="277063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21617"/>
                </a:solidFill>
                <a:latin typeface="PingFang SC"/>
              </a:rPr>
              <a:t>Review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71231" y="3355848"/>
            <a:ext cx="14813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人类批准来源与边界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71231" y="4288536"/>
            <a:ext cx="1481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9" b="1">
                <a:solidFill>
                  <a:srgbClr val="C84438"/>
                </a:solidFill>
                <a:latin typeface="Menlo"/>
              </a:rPr>
              <a:t>approved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81159" y="331927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564624" y="1920240"/>
            <a:ext cx="1938528" cy="324612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784080" y="2176272"/>
            <a:ext cx="438912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84080" y="2176272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05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84080" y="277063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21617"/>
                </a:solidFill>
                <a:latin typeface="PingFang SC"/>
              </a:rPr>
              <a:t>Replay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355848"/>
            <a:ext cx="14813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Sample-only × 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784080" y="4288536"/>
            <a:ext cx="1481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9" b="1">
                <a:solidFill>
                  <a:srgbClr val="17745A"/>
                </a:solidFill>
                <a:latin typeface="Menlo"/>
              </a:rPr>
              <a:t>run_1a209c…0b90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847088" y="5513832"/>
            <a:ext cx="8503920" cy="566928"/>
          </a:xfrm>
          <a:prstGeom prst="rect">
            <a:avLst/>
          </a:prstGeom>
          <a:solidFill>
            <a:srgbClr val="171B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048256" y="5669280"/>
            <a:ext cx="810158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120" b="1">
                <a:solidFill>
                  <a:srgbClr val="FFFFFF"/>
                </a:solidFill>
                <a:latin typeface="PingFang SC"/>
              </a:rPr>
              <a:t>Replay：5 / 5 Sample hit　｜　该 Run 中 real_tool Provider Attempt = 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普通用户入口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自然语言规划，确认与提交分离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无需理解 MCP；成本边界和人工责任仍由 Core 强制执行。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16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16 /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" y="1792224"/>
            <a:ext cx="8403336" cy="4645152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ditflow-05-assist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810512"/>
            <a:ext cx="8366760" cy="46085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372600" y="1920240"/>
            <a:ext cx="822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285CF5"/>
                </a:solidFill>
                <a:latin typeface="Helvetica Neu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72600" y="2404872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Case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920240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285CF5"/>
                </a:solidFill>
                <a:latin typeface="Helvetica Neue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404872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Attempts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54312" y="2889504"/>
            <a:ext cx="1993392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72600" y="322783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30" b="1">
                <a:solidFill>
                  <a:srgbClr val="2B312F"/>
                </a:solidFill>
                <a:latin typeface="PingFang SC"/>
              </a:rPr>
              <a:t>01  生成 Draft 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2600" y="3675887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30" b="1">
                <a:solidFill>
                  <a:srgbClr val="2B312F"/>
                </a:solidFill>
                <a:latin typeface="PingFang SC"/>
              </a:rPr>
              <a:t>02  重复执行触发确认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2600" y="4123944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30" b="1">
                <a:solidFill>
                  <a:srgbClr val="2B312F"/>
                </a:solidFill>
                <a:latin typeface="PingFang SC"/>
              </a:rPr>
              <a:t>03  confirm 不创建 Run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600" y="45720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30" b="1">
                <a:solidFill>
                  <a:srgbClr val="2B312F"/>
                </a:solidFill>
                <a:latin typeface="PingFang SC"/>
              </a:rPr>
              <a:t>04  submit 才执行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54312" y="5102352"/>
            <a:ext cx="1993392" cy="658368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91472" y="5230368"/>
            <a:ext cx="17190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80" b="1">
                <a:solidFill>
                  <a:srgbClr val="17745A"/>
                </a:solidFill>
                <a:latin typeface="Menlo"/>
              </a:rPr>
              <a:t>run_a1c88b…23fb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80" b="1">
                <a:solidFill>
                  <a:srgbClr val="17745A"/>
                </a:solidFill>
                <a:latin typeface="Menlo"/>
              </a:rPr>
              <a:t>3 / 3 PASS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平台优势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不是 EditFlow 专用脚本，而是可替换的评测控制面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框架、结果来源、裁决方式和消费入口彼此解耦。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17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17 /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847088"/>
            <a:ext cx="932688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847088"/>
            <a:ext cx="93268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入口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01952" y="1847088"/>
            <a:ext cx="9162288" cy="51206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67128" y="1975104"/>
            <a:ext cx="86410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>
                <a:solidFill>
                  <a:srgbClr val="2B312F"/>
                </a:solidFill>
                <a:latin typeface="PingFang SC"/>
              </a:rPr>
              <a:t>Codex / MCP · Web Assistant · CLI · CI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8" y="2606040"/>
            <a:ext cx="932688" cy="329184"/>
          </a:xfrm>
          <a:prstGeom prst="rect">
            <a:avLst/>
          </a:prstGeom>
          <a:solidFill>
            <a:srgbClr val="F8E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2606040"/>
            <a:ext cx="93268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Driver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01952" y="2606040"/>
            <a:ext cx="9162288" cy="51206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67128" y="2734056"/>
            <a:ext cx="86410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>
                <a:solidFill>
                  <a:srgbClr val="2B312F"/>
                </a:solidFill>
                <a:latin typeface="PingFang SC"/>
              </a:rPr>
              <a:t>HTTP/SSE · OpenAI-compatible · AgentScope · AG-UI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3364991"/>
            <a:ext cx="932688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3364991"/>
            <a:ext cx="93268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Provider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901952" y="3364991"/>
            <a:ext cx="9162288" cy="51206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67128" y="3493008"/>
            <a:ext cx="86410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>
                <a:solidFill>
                  <a:srgbClr val="2B312F"/>
                </a:solidFill>
                <a:latin typeface="PingFang SC"/>
              </a:rPr>
              <a:t>Fixture · Approved Sample · Simulator · Real Tool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9808" y="4123944"/>
            <a:ext cx="932688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4123944"/>
            <a:ext cx="93268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Evidence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901952" y="4123944"/>
            <a:ext cx="9162288" cy="51206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67128" y="4251959"/>
            <a:ext cx="86410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>
                <a:solidFill>
                  <a:srgbClr val="2B312F"/>
                </a:solidFill>
                <a:latin typeface="PingFang SC"/>
              </a:rPr>
              <a:t>Manifest · Cell · Attempt · Event · Timeline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9808" y="4882896"/>
            <a:ext cx="932688" cy="329184"/>
          </a:xfrm>
          <a:prstGeom prst="rect">
            <a:avLst/>
          </a:prstGeom>
          <a:solidFill>
            <a:srgbClr val="F8E7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4882896"/>
            <a:ext cx="93268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C84438"/>
                </a:solidFill>
                <a:latin typeface="PingFang SC"/>
              </a:rPr>
              <a:t>Decision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901952" y="4882896"/>
            <a:ext cx="9162288" cy="51206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167128" y="5010912"/>
            <a:ext cx="86410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>
                <a:solidFill>
                  <a:srgbClr val="2B312F"/>
                </a:solidFill>
                <a:latin typeface="PingFang SC"/>
              </a:rPr>
              <a:t>Rule · Judge · Human Review · Report · Release Gate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8" y="5806440"/>
            <a:ext cx="1920240" cy="329184"/>
          </a:xfrm>
          <a:prstGeom prst="rect">
            <a:avLst/>
          </a:prstGeom>
          <a:solidFill>
            <a:srgbClr val="EC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9808" y="5806440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67706B"/>
                </a:solidFill>
                <a:latin typeface="PingFang SC"/>
              </a:rPr>
              <a:t>Project isolation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26079" y="5806440"/>
            <a:ext cx="1920240" cy="329184"/>
          </a:xfrm>
          <a:prstGeom prst="rect">
            <a:avLst/>
          </a:prstGeom>
          <a:solidFill>
            <a:srgbClr val="EC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26079" y="5806440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67706B"/>
                </a:solidFill>
                <a:latin typeface="PingFang SC"/>
              </a:rPr>
              <a:t>Audit log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02352" y="5806440"/>
            <a:ext cx="1920240" cy="329184"/>
          </a:xfrm>
          <a:prstGeom prst="rect">
            <a:avLst/>
          </a:prstGeom>
          <a:solidFill>
            <a:srgbClr val="EC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02352" y="5806440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67706B"/>
                </a:solidFill>
                <a:latin typeface="PingFang SC"/>
              </a:rPr>
              <a:t>Durable job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278624" y="5806440"/>
            <a:ext cx="1920240" cy="329184"/>
          </a:xfrm>
          <a:prstGeom prst="rect">
            <a:avLst/>
          </a:prstGeom>
          <a:solidFill>
            <a:srgbClr val="EC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78624" y="5806440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67706B"/>
                </a:solidFill>
                <a:latin typeface="PingFang SC"/>
              </a:rPr>
              <a:t>OTLP → Case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454896" y="5806440"/>
            <a:ext cx="1920240" cy="329184"/>
          </a:xfrm>
          <a:prstGeom prst="rect">
            <a:avLst/>
          </a:prstGeom>
          <a:solidFill>
            <a:srgbClr val="EC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454896" y="5806440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67706B"/>
                </a:solidFill>
                <a:latin typeface="PingFang SC"/>
              </a:rPr>
              <a:t>Failure patterns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20240" y="6254496"/>
            <a:ext cx="8321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950" b="0">
                <a:solidFill>
                  <a:srgbClr val="67706B"/>
                </a:solidFill>
                <a:latin typeface="PingFang SC"/>
              </a:rPr>
              <a:t>核心模块可单独使用；AgentTeams 只在动态策展或语义裁决需要时启用。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开源生态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把 AgentScope 的真实闭环经验，抽成可本地部署的开放合同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AgentRig 不是复制一个内部页面，而是开放身份、资产、运行、证据和 Gate。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18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18 /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" y="1847088"/>
            <a:ext cx="6757416" cy="362102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kill-eco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865376"/>
            <a:ext cx="6720840" cy="35844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13232" y="5559552"/>
            <a:ext cx="66751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Menlo"/>
              </a:rPr>
              <a:t>真实工程 Skill 生态（lassist 生产 Agent 工程）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80960" y="1865376"/>
            <a:ext cx="3794760" cy="109728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882127" y="2011680"/>
            <a:ext cx="457200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82127" y="2011680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1993392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>
                <a:solidFill>
                  <a:srgbClr val="121617"/>
                </a:solidFill>
                <a:latin typeface="PingFang SC"/>
              </a:rPr>
              <a:t>AgentScope 实践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82127" y="2395728"/>
            <a:ext cx="3429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80" b="0">
                <a:solidFill>
                  <a:srgbClr val="67706B"/>
                </a:solidFill>
                <a:latin typeface="PingFang SC"/>
              </a:rPr>
              <a:t>真实业务评测闭环 · 11 个评测/治理 Skill 常态使用 · AgentTeams 协作范式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0" y="3090672"/>
            <a:ext cx="3794760" cy="109728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882127" y="3236976"/>
            <a:ext cx="457200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82127" y="3236976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3218688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>
                <a:solidFill>
                  <a:srgbClr val="121617"/>
                </a:solidFill>
                <a:latin typeface="PingFang SC"/>
              </a:rPr>
              <a:t>AgentRig 开源内核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82127" y="3621024"/>
            <a:ext cx="3429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80" b="0">
                <a:solidFill>
                  <a:srgbClr val="67706B"/>
                </a:solidFill>
                <a:latin typeface="PingFang SC"/>
              </a:rPr>
              <a:t>协议无关 Driver · 低副作用 Provider · Canonical Evidence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80960" y="4315968"/>
            <a:ext cx="3794760" cy="109728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882127" y="4462272"/>
            <a:ext cx="457200" cy="329184"/>
          </a:xfrm>
          <a:prstGeom prst="rect">
            <a:avLst/>
          </a:prstGeom>
          <a:solidFill>
            <a:srgbClr val="F8E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82127" y="446227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4443984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>
                <a:solidFill>
                  <a:srgbClr val="121617"/>
                </a:solidFill>
                <a:latin typeface="PingFang SC"/>
              </a:rPr>
              <a:t>生态消费方式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82127" y="4846320"/>
            <a:ext cx="3429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80" b="0">
                <a:solidFill>
                  <a:srgbClr val="67706B"/>
                </a:solidFill>
                <a:latin typeface="PingFang SC"/>
              </a:rPr>
              <a:t>Codex + 项目 Skill + PI 存档 · 普通用户 Web Assistant · CI / 发布 Gate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43000" y="5733288"/>
            <a:ext cx="9902952" cy="475488"/>
          </a:xfrm>
          <a:prstGeom prst="rect">
            <a:avLst/>
          </a:prstGeom>
          <a:solidFill>
            <a:srgbClr val="171B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71600" y="5861304"/>
            <a:ext cx="9464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PingFang SC"/>
              </a:rPr>
              <a:t>公开 EditFlow 证明可复现　｜　真实 lassist 兼容验证证明不是只适配 Demo Agent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真实生产使用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同一个 Skill，在真实生产 Agent 工程里天天在跑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Claude Code / Codex 按 prompt-regression-governance 驱动真实项目的提示词优化与回归验收。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19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19 /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10512"/>
            <a:ext cx="6620256" cy="3685032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rod-live-01-s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828800"/>
            <a:ext cx="6583680" cy="36484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8368" y="5596128"/>
            <a:ext cx="6583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Menlo"/>
              </a:rPr>
              <a:t>goal 模式整段执行：建 PI 档案 → 冻结基线 → 精读能力路由 → 手术级 diff 瘦身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06640" y="1810512"/>
            <a:ext cx="4078224" cy="2130552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rod-platform-batch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4927" y="1828800"/>
            <a:ext cx="4041648" cy="2093976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7406640" y="4187952"/>
            <a:ext cx="4078224" cy="2276856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rod-live-03-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4927" y="4206240"/>
            <a:ext cx="4041648" cy="22402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424927" y="4005072"/>
            <a:ext cx="40416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9" b="0">
                <a:solidFill>
                  <a:srgbClr val="67706B"/>
                </a:solidFill>
                <a:latin typeface="PingFang SC"/>
              </a:rPr>
              <a:t>内部评测平台:30 个批次任务,LIVE API 常态运行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4927" y="6483096"/>
            <a:ext cx="40416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9" b="0">
                <a:solidFill>
                  <a:srgbClr val="67706B"/>
                </a:solidFill>
                <a:latin typeface="PingFang SC"/>
              </a:rPr>
              <a:t>v4 终态:四表面 −16%,硬例 20/20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生产级验收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生产项目的 PI 验收报告：实证迭代、如实披露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55 Cell 矩阵、2064 项单测基线、v1→v4 四轮输入修正与 before 归因闭环。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20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20 /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1335024" y="1828800"/>
            <a:ext cx="9500615" cy="426110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rod-pi-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3312" y="1847088"/>
            <a:ext cx="9464040" cy="42245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53312" y="6236208"/>
            <a:ext cx="9464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Menlo"/>
              </a:rPr>
              <a:t>docs/prompt-iterations/…/PI-20260815-01 · decision: ACCEPT（带披露） · 硬性规则 20/20 · 语义 43 Cell 干净 + 1 Cell 4/5 披露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合规与落地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工具与云产品、贡献边界、风险控制与落地计划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真实使用与兼容规划分开陈述;商业服务、许可证与迁移成本一页披露。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21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21 /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28800"/>
            <a:ext cx="3520440" cy="434340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05256" y="2011680"/>
            <a:ext cx="457200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011680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02996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>
                <a:solidFill>
                  <a:srgbClr val="121617"/>
                </a:solidFill>
                <a:latin typeface="PingFang SC"/>
              </a:rPr>
              <a:t>工具与云产品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" y="2542032"/>
            <a:ext cx="310896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919">
                <a:solidFill>
                  <a:srgbClr val="67706B"/>
                </a:solidFill>
                <a:latin typeface="PingFang SC"/>
              </a:defRPr>
            </a:pPr>
            <a:r>
              <a:t>•  AgentTeams v1.1.2/v1.2.2 — 协同基点(真实 Live/兼容包)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919">
                <a:solidFill>
                  <a:srgbClr val="67706B"/>
                </a:solidFill>
                <a:latin typeface="PingFang SC"/>
              </a:defRPr>
            </a:pPr>
            <a:r>
              <a:t>•  Agno 2.6.11 + DeepSeek(商业 API,密钥环境变量注入,可替换任意 OpenAI 兼容模型)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919">
                <a:solidFill>
                  <a:srgbClr val="67706B"/>
                </a:solidFill>
                <a:latin typeface="PingFang SC"/>
              </a:defRPr>
            </a:pPr>
            <a:r>
              <a:t>•  Codex / Claude Code — 开发者入口(真实会话)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919">
                <a:solidFill>
                  <a:srgbClr val="67706B"/>
                </a:solidFill>
                <a:latin typeface="PingFang SC"/>
              </a:defRPr>
            </a:pPr>
            <a:r>
              <a:t>•  PostgreSQL 17.7 · MCP · OTLP — 标准协议与存储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919">
                <a:solidFill>
                  <a:srgbClr val="67706B"/>
                </a:solidFill>
                <a:latin typeface="PingFang SC"/>
              </a:defRPr>
            </a:pPr>
            <a:r>
              <a:t>•  AgentScope 2.0 / AG-UI Driver — 已实现,外部 Live Pending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828800"/>
            <a:ext cx="3520440" cy="434340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08576" y="2011680"/>
            <a:ext cx="457200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08576" y="2011680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202996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>
                <a:solidFill>
                  <a:srgbClr val="121617"/>
                </a:solidFill>
                <a:latin typeface="PingFang SC"/>
              </a:rPr>
              <a:t>贡献与许可证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08576" y="2542032"/>
            <a:ext cx="310896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919">
                <a:solidFill>
                  <a:srgbClr val="67706B"/>
                </a:solidFill>
                <a:latin typeface="PingFang SC"/>
              </a:defRPr>
            </a:pPr>
            <a:r>
              <a:t>•  基于团队真实评测实践重构;本次新增:开源内核、公开 EditFlow 场景、正式录制证据链、PI 存档合同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919">
                <a:solidFill>
                  <a:srgbClr val="67706B"/>
                </a:solidFill>
                <a:latin typeface="PingFang SC"/>
              </a:defRPr>
            </a:pPr>
            <a:r>
              <a:t>•  MIT 双仓公开;SBOM(CycloneDX);依赖审计 0 漏洞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919">
                <a:solidFill>
                  <a:srgbClr val="67706B"/>
                </a:solidFill>
                <a:latin typeface="PingFang SC"/>
              </a:defRPr>
            </a:pPr>
            <a:r>
              <a:t>•  Gitleaks 全历史 0 泄漏;私有项目资产不进入公开物料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919">
                <a:solidFill>
                  <a:srgbClr val="67706B"/>
                </a:solidFill>
                <a:latin typeface="PingFang SC"/>
              </a:defRPr>
            </a:pPr>
            <a:r>
              <a:t>•  数据来源:公开确定性 Fixture,不上传真实图片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92440" y="1828800"/>
            <a:ext cx="3520440" cy="434340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311896" y="2011680"/>
            <a:ext cx="457200" cy="329184"/>
          </a:xfrm>
          <a:prstGeom prst="rect">
            <a:avLst/>
          </a:prstGeom>
          <a:solidFill>
            <a:srgbClr val="F8E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11896" y="2011680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400" y="202996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>
                <a:solidFill>
                  <a:srgbClr val="121617"/>
                </a:solidFill>
                <a:latin typeface="PingFang SC"/>
              </a:rPr>
              <a:t>风险控制与落地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1896" y="2542032"/>
            <a:ext cx="310896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919">
                <a:solidFill>
                  <a:srgbClr val="67706B"/>
                </a:solidFill>
                <a:latin typeface="PingFang SC"/>
              </a:defRPr>
            </a:pPr>
            <a:r>
              <a:t>•  模型可替换、Driver/Provider 可插拔,无单点商业依赖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919">
                <a:solidFill>
                  <a:srgbClr val="67706B"/>
                </a:solidFill>
                <a:latin typeface="PingFang SC"/>
              </a:defRPr>
            </a:pPr>
            <a:r>
              <a:t>•  fail-closed 门禁;人工审批边界;append-only 审计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919">
                <a:solidFill>
                  <a:srgbClr val="67706B"/>
                </a:solidFill>
                <a:latin typeface="PingFang SC"/>
              </a:defRPr>
            </a:pPr>
            <a:r>
              <a:t>•  复赛里程碑:AgentTeams v1.2.2 集群 Live → K8s/Helm → 容量与 SLO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919">
                <a:solidFill>
                  <a:srgbClr val="67706B"/>
                </a:solidFill>
                <a:latin typeface="PingFang SC"/>
              </a:defRPr>
            </a:pPr>
            <a:r>
              <a:t>•  目标用户:交付真实 Agent 的工程团队(评测/回归/发布门禁)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证据台账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正式录制已闭环；全部证据来自干净录制库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已证明的事实与尚未证明的边界必须同时出现在结论里。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22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22 /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1847088"/>
            <a:ext cx="3364992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993392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67706B"/>
                </a:solidFill>
                <a:latin typeface="PingFang SC"/>
              </a:rPr>
              <a:t>Before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66543" y="196596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C84438"/>
                </a:solidFill>
                <a:latin typeface="Helvetica Neue"/>
              </a:rPr>
              <a:t>2 /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53512" y="2002536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0">
                <a:solidFill>
                  <a:srgbClr val="67706B"/>
                </a:solidFill>
                <a:latin typeface="PingFang SC"/>
              </a:rPr>
              <a:t>3 次行为失败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98264" y="1847088"/>
            <a:ext cx="3364992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1993392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67706B"/>
                </a:solidFill>
                <a:latin typeface="PingFang SC"/>
              </a:rPr>
              <a:t>Headline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51576" y="196596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7745A"/>
                </a:solidFill>
                <a:latin typeface="Helvetica Neue"/>
              </a:rPr>
              <a:t>5 / 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38544" y="2002536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0">
                <a:solidFill>
                  <a:srgbClr val="67706B"/>
                </a:solidFill>
                <a:latin typeface="PingFang SC"/>
              </a:rPr>
              <a:t>同 Case + Manifest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83296" y="1847088"/>
            <a:ext cx="3364992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2752" y="1993392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67706B"/>
                </a:solidFill>
                <a:latin typeface="PingFang SC"/>
              </a:rPr>
              <a:t>Matrix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36608" y="196596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7745A"/>
                </a:solidFill>
                <a:latin typeface="Helvetica Neue"/>
              </a:rPr>
              <a:t>30 / 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23576" y="2002536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0">
                <a:solidFill>
                  <a:srgbClr val="67706B"/>
                </a:solidFill>
                <a:latin typeface="PingFang SC"/>
              </a:rPr>
              <a:t>6 Cells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3232" y="2898648"/>
            <a:ext cx="3364992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" y="3044952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67706B"/>
                </a:solidFill>
                <a:latin typeface="PingFang SC"/>
              </a:rPr>
              <a:t>Sample replay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66543" y="301752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7745A"/>
                </a:solidFill>
                <a:latin typeface="Helvetica Neue"/>
              </a:rPr>
              <a:t>5 /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53512" y="3054096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0">
                <a:solidFill>
                  <a:srgbClr val="67706B"/>
                </a:solidFill>
                <a:latin typeface="PingFang SC"/>
              </a:rPr>
              <a:t>0 real_tool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98264" y="2898648"/>
            <a:ext cx="3364992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17720" y="3044952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67706B"/>
                </a:solidFill>
                <a:latin typeface="PingFang SC"/>
              </a:rPr>
              <a:t>Web Assistant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51576" y="301752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7745A"/>
                </a:solidFill>
                <a:latin typeface="Helvetica Neue"/>
              </a:rPr>
              <a:t>3 /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38544" y="3054096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0">
                <a:solidFill>
                  <a:srgbClr val="67706B"/>
                </a:solidFill>
                <a:latin typeface="PingFang SC"/>
              </a:rPr>
              <a:t>确认与提交分离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83296" y="2898648"/>
            <a:ext cx="3364992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02752" y="3044952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67706B"/>
                </a:solidFill>
                <a:latin typeface="PingFang SC"/>
              </a:rPr>
              <a:t>EditFlow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36608" y="301752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285CF5"/>
                </a:solidFill>
                <a:latin typeface="Helvetica Neue"/>
              </a:rPr>
              <a:t>34 tests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23576" y="3054096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0">
                <a:solidFill>
                  <a:srgbClr val="67706B"/>
                </a:solidFill>
                <a:latin typeface="PingFang SC"/>
              </a:rPr>
              <a:t>non-live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3232" y="4315968"/>
            <a:ext cx="10725912" cy="932688"/>
          </a:xfrm>
          <a:prstGeom prst="rect">
            <a:avLst/>
          </a:prstGeom>
          <a:solidFill>
            <a:srgbClr val="F8E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0976" y="4553712"/>
            <a:ext cx="10789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1">
                <a:solidFill>
                  <a:srgbClr val="A76509"/>
                </a:solidFill>
                <a:latin typeface="PingFang SC"/>
              </a:rPr>
              <a:t>诚实边界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48840" y="4489704"/>
            <a:ext cx="8686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1">
                <a:solidFill>
                  <a:srgbClr val="2B312F"/>
                </a:solidFill>
                <a:latin typeface="PingFang SC"/>
              </a:rPr>
              <a:t>Sample 仅覆盖 inspect_image；动态引用等值以 Timeline 展示；全部 ID 来自干净录制库；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1">
                <a:solidFill>
                  <a:srgbClr val="2B312F"/>
                </a:solidFill>
                <a:latin typeface="PingFang SC"/>
              </a:rPr>
              <a:t>AgentTeams 外部 Live、目标容量与生产 SLO 不冒充本次 EditFlow 结论。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389888" y="5532120"/>
            <a:ext cx="9418320" cy="640080"/>
          </a:xfrm>
          <a:prstGeom prst="rect">
            <a:avLst/>
          </a:prstGeom>
          <a:solidFill>
            <a:srgbClr val="171B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27632" y="5715000"/>
            <a:ext cx="89428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PingFang SC"/>
              </a:rPr>
              <a:t>Codex 负责思考和改变软件；AgentRig 负责让每次改变可复用、可执行、可追溯。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