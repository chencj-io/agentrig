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93776" cy="493776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21207"/>
            <a:ext cx="493776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PingFang SC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" y="658368"/>
            <a:ext cx="20116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BM Plex Mono"/>
              </a:rPr>
              <a:t>AGENTRIG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612648"/>
            <a:ext cx="2514600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400" y="621792"/>
            <a:ext cx="251460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GOAI 2026 · AGENT INFRA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47088"/>
            <a:ext cx="813816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PingFang SC"/>
              </a:rPr>
              <a:t>让企业 Agent 的每次变化
都有证据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474720"/>
            <a:ext cx="5852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BFC5C1"/>
                </a:solidFill>
                <a:latin typeface="PingFang SC"/>
              </a:rPr>
              <a:t>多 Agent 可审计评测基础设施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069080"/>
            <a:ext cx="69494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8E9691"/>
                </a:solidFill>
                <a:latin typeface="PingFang SC"/>
              </a:rPr>
              <a:t>AgentTeams 负责协作，AgentRig 负责事实、验证与审计。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4846320"/>
            <a:ext cx="1298448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4855464"/>
            <a:ext cx="12984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AGENTTEAMS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4846320"/>
            <a:ext cx="603504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4855464"/>
            <a:ext cx="603504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4846320"/>
            <a:ext cx="1261872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6352" y="4855464"/>
            <a:ext cx="126187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33672" y="4846320"/>
            <a:ext cx="1069848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33672" y="4855464"/>
            <a:ext cx="10698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58968" y="4846320"/>
            <a:ext cx="713232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4855464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AUDIT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6144768"/>
            <a:ext cx="10945368" cy="12700"/>
          </a:xfrm>
          <a:prstGeom prst="rect">
            <a:avLst/>
          </a:prstGeom>
          <a:solidFill>
            <a:srgbClr val="343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6327648"/>
            <a:ext cx="2926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>
                <a:solidFill>
                  <a:srgbClr val="737A76"/>
                </a:solidFill>
                <a:latin typeface="IBM Plex Mono"/>
              </a:rPr>
              <a:t>2026.08  /  v0.2.0a0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传统测试方法不适配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问题已经从“接口断言”升级为“执行治理”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45720" cy="3429000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输出不确定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字符串快照既脆弱，也无法解释语义是否正确。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74519"/>
            <a:ext cx="45720" cy="3429000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工具有副作用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真实工具昂贵且修改数据；纯 mock 又缺少合理性。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45720" cy="3429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Judge 不可信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可能看见预期答案、接受伪证据或脱离运行事实。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15984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15984" y="1874519"/>
            <a:ext cx="45720" cy="3429000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状态跨多轮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版本、工具链、审批和恢复共同决定最终行为。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108813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51719"/>
                </a:solidFill>
                <a:latin typeface="PingFang SC"/>
              </a:rPr>
              <a:t>目标不是再做一个聊天评分器，而是建立企业 Agent 的持续验证基础设施。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从一句目标到可审计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把平台数据模型隐藏在自然语言交互之后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描述目标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自然语言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984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2304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8608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8608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查询资产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Case / Target /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6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预览计划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范围 / 风险 / 数量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用户确认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绑定 event + revision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执行验证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4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Rule + Judge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0112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6416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6416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解释沉淀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6416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Evidence / Case Draft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70832" y="4343400"/>
            <a:ext cx="3429000" cy="274320"/>
          </a:xfrm>
          <a:prstGeom prst="roundRect">
            <a:avLst>
              <a:gd name="adj" fmla="val 8000"/>
            </a:avLst>
          </a:prstGeom>
          <a:solidFill>
            <a:srgbClr val="FFF4D8"/>
          </a:solidFill>
          <a:ln w="8890">
            <a:solidFill>
              <a:srgbClr val="EAD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832" y="4352544"/>
            <a:ext cx="342900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NO RUN BEFORE CONFIRMATION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074920"/>
            <a:ext cx="996696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252927"/>
                </a:solidFill>
                <a:latin typeface="PingFang SC"/>
              </a:rPr>
              <a:t>关键边界：计划不是提示词中的“建议”，而是可预览、可修订、可确认的领域对象。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AGENT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三 Agent 职责分离，不为数量而拆分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不同知识、不同权限、不同可信边界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04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38528"/>
            <a:ext cx="3438144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E9EEFF"/>
          </a:solidFill>
          <a:ln w="8890">
            <a:solidFill>
              <a:srgbClr val="E9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目标理解 · 资产选择
计划 · 审批 · 诊断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" y="4315968"/>
            <a:ext cx="3026664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IBM Plex Mono"/>
              </a:rPr>
              <a:t>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不能直接执行原始 run_cases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59" y="1938528"/>
            <a:ext cx="3438144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81727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E8F5EF"/>
          </a:solidFill>
          <a:ln w="8890">
            <a:solidFill>
              <a:srgbClr val="E8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1727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7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Simulation Curator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冻结上下文 · 工具候选
Schema 合规结果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1727" y="4315968"/>
            <a:ext cx="3026664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IBM Plex Mono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7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看不到 rubric 与预期答案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02752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02752" y="1938528"/>
            <a:ext cx="3438144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03920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FFF4D8"/>
          </a:solidFill>
          <a:ln w="8890">
            <a:solidFill>
              <a:srgbClr val="FFF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Evidence Judge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冻结证据 · 独立裁决
引用真实 event 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4315968"/>
            <a:ext cx="3026663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IBM Plex Mono"/>
              </a:rPr>
              <a:t>BOUNDARY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不能改执行，也不能造证据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33872"/>
            <a:ext cx="107899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8403A"/>
                </a:solidFill>
                <a:latin typeface="PingFang SC"/>
              </a:rPr>
              <a:t>合并角色会产生三类风险：越权执行 / 目标泄漏 / 执行者自评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AGENTTEAMS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AgentTeams 如何真实进入系统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不是 PPT 依赖：身份、生命周期、Skill 和双向事件均可现场核验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01952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01952"/>
            <a:ext cx="64008" cy="71323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AgentTeams v1.1.2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2084832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Manager / Worker 生命周期与身份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43784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843784"/>
            <a:ext cx="64008" cy="71323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008376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3026664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定向唤醒 · 任务投递 · 最终回执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785616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3785616"/>
            <a:ext cx="64008" cy="71323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50208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MinIO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3968496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角色工作区 · 版本化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727448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4727448"/>
            <a:ext cx="64008" cy="713232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892040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Higress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4910328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三身份隔离 MCP Routes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081528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50992" y="2121408"/>
            <a:ext cx="5669280" cy="3154680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1888" y="2468880"/>
            <a:ext cx="25603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8E9691"/>
                </a:solidFill>
                <a:latin typeface="IBM Plex Mono"/>
              </a:rPr>
              <a:t>AGENTRIG ADAPTER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296265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ingFang SC"/>
              </a:rPr>
              <a:t>协作事件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2962656"/>
            <a:ext cx="7315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8E9691"/>
                </a:solidFill>
                <a:latin typeface="PingFang SC"/>
              </a:rPr>
              <a:t>映射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962656"/>
            <a:ext cx="228600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ingFang SC"/>
              </a:rPr>
              <a:t>业务 Invocation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61888" y="3474720"/>
            <a:ext cx="4992624" cy="12700"/>
          </a:xfrm>
          <a:prstGeom prst="rect">
            <a:avLst/>
          </a:prstGeom>
          <a:solidFill>
            <a:srgbClr val="343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3785615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request_event_id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response_event_id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input / result hash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terminal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785615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run_id / case_run_id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role / deadline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result_ref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error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4800600"/>
            <a:ext cx="4983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8E9691"/>
                </a:solidFill>
                <a:latin typeface="PingFang SC"/>
              </a:rPr>
              <a:t>Core 不依赖 AgentTeams 类型；协作框架可替换，业务事实合同不变。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协作层与事实层分离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AgentTeams 管“谁协作”，AgentRig Core 管“什么是事实”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847088"/>
            <a:ext cx="10716768" cy="621792"/>
          </a:xfrm>
          <a:prstGeom prst="rect">
            <a:avLst/>
          </a:prstGeom>
          <a:solidFill>
            <a:srgbClr val="E9EE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993392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Web Assistant / Plan Preview / Evidence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651760"/>
            <a:ext cx="10716768" cy="621792"/>
          </a:xfrm>
          <a:prstGeom prst="rect">
            <a:avLst/>
          </a:prstGeom>
          <a:solidFill>
            <a:srgbClr val="E8F5E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34640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COLLABORATION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798064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Manager  ⇄  Matrix  ⇄  Curator / Judge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456432"/>
            <a:ext cx="10716768" cy="621792"/>
          </a:xfrm>
          <a:prstGeom prst="rect">
            <a:avLst/>
          </a:prstGeom>
          <a:solidFill>
            <a:srgbClr val="FFF4D8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639312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3602736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EvaluationPlan / Approval / Invocation / MCP Policies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61104"/>
            <a:ext cx="10716768" cy="621792"/>
          </a:xfrm>
          <a:prstGeom prst="rect">
            <a:avLst/>
          </a:prstGeom>
          <a:solidFill>
            <a:srgbClr val="FCEBEA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4407408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Drivers  →  lassist/Pixcake  →  Provider Chain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065776"/>
            <a:ext cx="1071676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48656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IBM Plex Mono"/>
              </a:rPr>
              <a:t>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5212080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IBM Plex Mono"/>
              </a:rPr>
              <a:t>Case / Snapshot / RunEvent / Evaluation / Hash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4256" y="6044184"/>
            <a:ext cx="3493008" cy="274320"/>
          </a:xfrm>
          <a:prstGeom prst="roundRect">
            <a:avLst>
              <a:gd name="adj" fmla="val 8000"/>
            </a:avLst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6053328"/>
            <a:ext cx="349300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IBM Plex Mono"/>
              </a:rPr>
              <a:t>IMMUTABLE EVIDENCE BOUNDARY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SKILL +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可复用能力，不是一次性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10 个 Skill + 三套最小权限 MCP 工具集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07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7088"/>
            <a:ext cx="3611880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84831"/>
            <a:ext cx="320954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457F5"/>
                </a:solidFill>
                <a:latin typeface="IBM Plex Mono"/>
              </a:rPr>
              <a:t>MANAGER /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2578608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660903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plan-evaluation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3090672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172968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execute-evaluation-plan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3602736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712463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685032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diagnose-run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" y="4114800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224528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197096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build-test-case-draft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59" y="4626864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36592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709160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configure-test-target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1847088"/>
            <a:ext cx="2999232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2084831"/>
            <a:ext cx="2596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37A59"/>
                </a:solidFill>
                <a:latin typeface="IBM Plex Mono"/>
              </a:rPr>
              <a:t>WORKERS /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2578608"/>
            <a:ext cx="263347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660903"/>
            <a:ext cx="199339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simulate-tool-result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090672"/>
            <a:ext cx="263347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172968"/>
            <a:ext cx="199339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judge-evidence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2127" y="1847088"/>
            <a:ext cx="3639312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83296" y="2084831"/>
            <a:ext cx="32369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55900"/>
                </a:solidFill>
                <a:latin typeface="IBM Plex Mono"/>
              </a:rPr>
              <a:t>CORE /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65007" y="2578608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023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2660903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run-evaluations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7" y="3090672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93023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3172968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build-test-cases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65007" y="3602736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023" y="3712463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685032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collect-tool-samples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69864"/>
            <a:ext cx="108813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51719"/>
                </a:solidFill>
                <a:latin typeface="PingFang SC"/>
              </a:rPr>
              <a:t>每个核心 Skill 定义：触发条件 · 输入输出 · 工具依赖 · 失败 · 重试 · 安全边界 · 版本合同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TRUSTED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防止“Judge 说通过就通过”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确定性约束与语义判断独立保存，结论必须回到证据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08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1993392"/>
            <a:ext cx="2011680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冻结输入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Case / Target / Profile
形成不可变快照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VERIFIED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62072" y="1993392"/>
            <a:ext cx="2011680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6664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隔离生成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Curator 看不到 rubric
只提交 Schema 候选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6664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26664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VERIFIED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993392"/>
            <a:ext cx="2011680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85232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确定性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结构化断言先执行
结果独立存档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5232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VERIFIED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9208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9208" y="1993392"/>
            <a:ext cx="2011680" cy="73152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证据 Judge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只能引用本次 Run
真实 event ID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VERIFIED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37776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37776" y="1993392"/>
            <a:ext cx="2011680" cy="73152"/>
          </a:xfrm>
          <a:prstGeom prst="rect">
            <a:avLst/>
          </a:prstGeom>
          <a:solidFill>
            <a:srgbClr val="252927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02368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IBM Plex Mono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02368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输出校验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2368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Pydantic / JSON Schema
Hash / Ref validation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02368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02368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IBM Plex Mono"/>
              </a:rPr>
              <a:t>VERIFIED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5532120"/>
            <a:ext cx="1097280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52927"/>
                </a:solidFill>
                <a:latin typeface="PingFang SC"/>
              </a:rPr>
              <a:t>Rule / Judge / External 三类 Evaluation 互不覆盖；任何未知 evidence_ref 都会被拒绝。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SAFETY +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审批、安全与恢复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模型只能提出动作，确定性后端决定动作是否允许发生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09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11680"/>
            <a:ext cx="1792224" cy="621792"/>
          </a:xfrm>
          <a:prstGeom prst="rect">
            <a:avLst/>
          </a:prstGeom>
          <a:solidFill>
            <a:srgbClr val="E9EEFF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457F5"/>
                </a:solidFill>
                <a:latin typeface="IBM Plex Mono"/>
              </a:rPr>
              <a:t>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167128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737B77"/>
                </a:solidFill>
                <a:latin typeface="PingFang SC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90088" y="2011680"/>
            <a:ext cx="1792224" cy="621792"/>
          </a:xfrm>
          <a:prstGeom prst="rect">
            <a:avLst/>
          </a:prstGeom>
          <a:solidFill>
            <a:srgbClr val="E8F5EF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37A59"/>
                </a:solidFill>
                <a:latin typeface="IBM Plex Mono"/>
              </a:rP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167128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737B77"/>
                </a:solidFill>
                <a:latin typeface="PingFang SC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0368" y="2011680"/>
            <a:ext cx="1792224" cy="621792"/>
          </a:xfrm>
          <a:prstGeom prst="rect">
            <a:avLst/>
          </a:prstGeom>
          <a:solidFill>
            <a:srgbClr val="FFF4D8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036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55900"/>
                </a:solidFill>
                <a:latin typeface="IBM Plex Mono"/>
              </a:rPr>
              <a:t>SUBMITTED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2907792"/>
            <a:ext cx="62636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252927"/>
                </a:solidFill>
                <a:latin typeface="PingFang SC"/>
              </a:rPr>
              <a:t>确认绑定 AssistantEvent + 同一 Plan Revision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874519"/>
            <a:ext cx="4041648" cy="1508760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194560"/>
            <a:ext cx="33832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8E9691"/>
                </a:solidFill>
                <a:latin typeface="IBM Plex Mono"/>
              </a:rPr>
              <a:t>NO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578608"/>
            <a:ext cx="338328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BM Plex Mono"/>
              </a:rPr>
              <a:t>NO 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SECRET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495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env: / Secret 引用；不进 Matrix、日志和 Skill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43984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REDACTION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模型与 Worker 输入统一脱敏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6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IDEMPOTENCY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重复提交复用幂等键，不重复执行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672583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4791455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TERMINAL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5" y="4773168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超时、取消、失败都是显式可审计终态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4672583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791455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DEGRADE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4773168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AgentTeams 故障不破坏 Core 与既有证据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真实 Demo：成功、失败与证据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本机 lassist/Pixcake Agent · AgentTeams 三角色 · 双向 Matrix event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2971800" cy="4370832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3774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8E9691"/>
                </a:solidFill>
                <a:latin typeface="IBM Plex Mono"/>
              </a:rPr>
              <a:t>DEMO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151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成功闭环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35224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apply_image_prompt → Curator → Rule 3/3 → Judge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21024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02736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策略回归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22776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编辑前未二次确认 → Rule / Judge 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08576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审批边界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0328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未确认不提交；revision 更新使旧确认失效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541264"/>
            <a:ext cx="2331720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50407"/>
            <a:ext cx="23317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REAL TARGET / NO FAKE DRIVER</a:t>
            </a:r>
          </a:p>
        </p:txBody>
      </p:sp>
      <p:pic>
        <p:nvPicPr>
          <p:cNvPr id="21" name="Picture 20" descr="agentrig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7" y="1810512"/>
            <a:ext cx="8019288" cy="45079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工程落地与开放价值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Core 无模型、无 AgentTeams 仍可完成确定性回归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11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45720" cy="1143000"/>
          </a:xfrm>
          <a:prstGeom prst="rect">
            <a:avLst/>
          </a:prstGeom>
          <a:solidFill>
            <a:srgbClr val="2457F5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3+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Agent identities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1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1" y="1874519"/>
            <a:ext cx="45720" cy="1143000"/>
          </a:xfrm>
          <a:prstGeom prst="rect">
            <a:avLst/>
          </a:prstGeom>
          <a:solidFill>
            <a:srgbClr val="237A59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1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Versioned Skills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874519"/>
            <a:ext cx="45720" cy="1143000"/>
          </a:xfrm>
          <a:prstGeom prst="rect">
            <a:avLst/>
          </a:prstGeom>
          <a:solidFill>
            <a:srgbClr val="955900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3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Target Drivers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874519"/>
            <a:ext cx="45720" cy="1143000"/>
          </a:xfrm>
          <a:prstGeom prst="rect">
            <a:avLst/>
          </a:prstGeom>
          <a:solidFill>
            <a:srgbClr val="B8403A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5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7815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Evaluator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429000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602736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3575304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Python 3.12 · FastAPI · SQLAlchemy · React · MCP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3429000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602736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DRIVERS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3575304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Pixcake HTTP-SSE · OpenAI compatible · ACP · subprocess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178808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4352544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4325112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SQLite 本机一键体验；Repository 可切 PostgreSQL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4178808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4352544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4325112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Driver / Provider / Evaluator / Skill / Adapter 均为契约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928616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102352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DELIVERY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一键部署 · 示例配置 · 安全文档 · 自动化测试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4928616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5102352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LICENSE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0336" y="5074920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MIT License · 可执行代码包 · 可重复构建角色包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让每个 Agent 决定都经过分工、验证并留下证据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AgentRig 不替 Agent 做决定；它让决定可以持续回归、发布门禁与审计复盘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12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965960"/>
            <a:ext cx="3401568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IBM Plex Mono"/>
              </a:rPr>
              <a:t>2026.08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310128"/>
            <a:ext cx="2953512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公开设计与身份清单
真实三 Agent Demo
成功 / 失败证据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99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07992" y="1965960"/>
            <a:ext cx="3401568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SEMIFINAL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IBM Plex Mono"/>
              </a:rPr>
              <a:t>NEXT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7448" y="3310128"/>
            <a:ext cx="2953511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可执行代码包与视频
运行报告 / Trace
恢复与性能指标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0275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02752" y="1965960"/>
            <a:ext cx="3401568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IBM Plex Mono"/>
              </a:rPr>
              <a:t>SCALE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22208" y="3310128"/>
            <a:ext cx="2953512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220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PostgreSQL / Kubernetes
OTel / SLS 可观测
版本对比与发布门禁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14416"/>
            <a:ext cx="10972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不同企业 Agent 共用的开源质量与发布基础设施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6099048"/>
            <a:ext cx="3822191" cy="274320"/>
          </a:xfrm>
          <a:prstGeom prst="roundRect">
            <a:avLst>
              <a:gd name="adj" fmla="val 8000"/>
            </a:avLst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4528" y="6108192"/>
            <a:ext cx="3822191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IBM Plex Mono"/>
              </a:rPr>
              <a:t>AGENTRIG / EVIDENCE BEFORE CONFIDENCE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