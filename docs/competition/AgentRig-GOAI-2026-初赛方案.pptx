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02920"/>
            <a:ext cx="384048" cy="384048"/>
          </a:xfrm>
          <a:prstGeom prst="rect">
            <a:avLst/>
          </a:prstGeom>
          <a:solidFill>
            <a:srgbClr val="285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7864" y="60350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PingFang SC"/>
              </a:rPr>
              <a:t>AgentRig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603504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50" b="0">
                <a:solidFill>
                  <a:srgbClr val="A8B0AC"/>
                </a:solidFill>
                <a:latin typeface="PingFang SC"/>
              </a:rPr>
              <a:t>GOAI 2026 · Agent Infra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5577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PingFang SC"/>
              </a:rPr>
              <a:t>让 Agent 的每次变化
都有可发布的证据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5303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0">
                <a:solidFill>
                  <a:srgbClr val="CAD0CD"/>
                </a:solidFill>
                <a:latin typeface="PingFang SC"/>
              </a:rPr>
              <a:t>真实推理 · 受控副作用 · 行为级回归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30752"/>
            <a:ext cx="5074920" cy="10972"/>
          </a:xfrm>
          <a:prstGeom prst="rect">
            <a:avLst/>
          </a:prstGeom>
          <a:solidFill>
            <a:srgbClr val="363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05072"/>
            <a:ext cx="4983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70" b="0">
                <a:solidFill>
                  <a:srgbClr val="A8B0AC"/>
                </a:solidFill>
                <a:latin typeface="PingFang SC"/>
              </a:rPr>
              <a:t>Codex 改变 Agent，AgentRig 把改变固化成
Case、Run、Timeline、Sample 与 Gate。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9944" y="1143000"/>
            <a:ext cx="5111496" cy="3209544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ditflow-04-accep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161288"/>
            <a:ext cx="5074920" cy="31729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28232" y="4590288"/>
            <a:ext cx="2103120" cy="329184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59028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17745A"/>
                </a:solidFill>
                <a:latin typeface="PingFang SC"/>
              </a:rPr>
              <a:t>EDITFLOW · 30 / 30 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5074920"/>
            <a:ext cx="5029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A8B0AC"/>
                </a:solidFill>
                <a:latin typeface="PingFang SC"/>
              </a:rPr>
              <a:t>公开脱敏 Agent · 真实 Agno + DeepSeek · 本地可复现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8523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Helvetica Neue"/>
              </a:rPr>
              <a:t>EVIDENCE BEFORE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737A77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737A77"/>
                </a:solidFill>
                <a:latin typeface="Helvetica Neue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真实问题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Prompt 改一行，Agent 行为可能变五层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最终回答相似，不代表工具选择、参数、顺序和结果引用仍然正确。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02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56816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121617"/>
                </a:solidFill>
                <a:latin typeface="PingFang SC"/>
              </a:rPr>
              <a:t>一次成功 Demo，
不足以批准一次发布。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82112"/>
            <a:ext cx="38862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80" b="0">
                <a:solidFill>
                  <a:srgbClr val="67706B"/>
                </a:solidFill>
                <a:latin typeface="PingFang SC"/>
              </a:rPr>
              <a:t>Agent 的概率性与工具副作用，使传统单元测试和纯 Mock 都无法独立回答发布问题。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4572000"/>
            <a:ext cx="3931920" cy="694944"/>
          </a:xfrm>
          <a:prstGeom prst="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73168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PingFang SC"/>
              </a:rPr>
              <a:t>目标：真实决策，受控执行，可审计结论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865376"/>
            <a:ext cx="53035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865376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1892807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21617"/>
                </a:solidFill>
                <a:latin typeface="PingFang SC"/>
              </a:rPr>
              <a:t>工具选择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90195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7706B"/>
                </a:solidFill>
                <a:latin typeface="PingFang SC"/>
              </a:rPr>
              <a:t>调用哪个工具，是否过度路由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75504" y="2505456"/>
            <a:ext cx="589788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2798064"/>
            <a:ext cx="53035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2798064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2825496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21617"/>
                </a:solidFill>
                <a:latin typeface="PingFang SC"/>
              </a:rPr>
              <a:t>参数传播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834640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7706B"/>
                </a:solidFill>
                <a:latin typeface="PingFang SC"/>
              </a:rPr>
              <a:t>人物保护、素材 ID、图片引用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75504" y="3438144"/>
            <a:ext cx="589788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66360" y="3730752"/>
            <a:ext cx="53035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3730752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25312" y="3758184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21617"/>
                </a:solidFill>
                <a:latin typeface="PingFang SC"/>
              </a:rPr>
              <a:t>调用顺序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767328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7706B"/>
                </a:solidFill>
                <a:latin typeface="PingFang SC"/>
              </a:rPr>
              <a:t>检查、修改、搜索、应用、裁剪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75504" y="4370832"/>
            <a:ext cx="589788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6360" y="4663440"/>
            <a:ext cx="53035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4663440"/>
            <a:ext cx="5303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469087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21617"/>
                </a:solidFill>
                <a:latin typeface="PingFang SC"/>
              </a:rPr>
              <a:t>执行成本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4700016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67706B"/>
                </a:solidFill>
                <a:latin typeface="PingFang SC"/>
              </a:rPr>
              <a:t>图片、支付、发信与生产写入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75504" y="5303520"/>
            <a:ext cx="589788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产品边界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AgentRig 不替 Agent 回答，只治理评测边界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模型仍真实推理；工具结果来源、事实记录与裁决责任被独立控制。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03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74519"/>
            <a:ext cx="3310128" cy="3346704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" y="2103120"/>
            <a:ext cx="98755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103120"/>
            <a:ext cx="9875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67004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21617"/>
                </a:solidFill>
                <a:latin typeface="PingFang SC"/>
              </a:rPr>
              <a:t>真实被测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273552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67706B"/>
                </a:solidFill>
                <a:latin typeface="PingFang SC"/>
              </a:rPr>
              <a:t>模型推理
HTTP / SSE
Session 与工具选择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10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5424" y="1874519"/>
            <a:ext cx="3310128" cy="3346704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1456" y="2103120"/>
            <a:ext cx="987552" cy="329184"/>
          </a:xfrm>
          <a:prstGeom prst="rect">
            <a:avLst/>
          </a:prstGeom>
          <a:solidFill>
            <a:srgbClr val="F8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2103120"/>
            <a:ext cx="9875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A76509"/>
                </a:solidFill>
                <a:latin typeface="PingFang SC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67004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21617"/>
                </a:solidFill>
                <a:latin typeface="PingFang SC"/>
              </a:rPr>
              <a:t>工具结果 Provider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3273552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67706B"/>
                </a:solidFill>
                <a:latin typeface="PingFang SC"/>
              </a:rPr>
              <a:t>Fixture
审核 Sample
Simulator / Real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101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2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7615" y="1874519"/>
            <a:ext cx="3310128" cy="3346704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13647" y="2103120"/>
            <a:ext cx="987552" cy="329184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7" y="2103120"/>
            <a:ext cx="9875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17745A"/>
                </a:solidFill>
                <a:latin typeface="PingFang SC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7" y="267004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121617"/>
                </a:solidFill>
                <a:latin typeface="PingFang SC"/>
              </a:rPr>
              <a:t>事实与裁决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7" y="3273552"/>
            <a:ext cx="27432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67706B"/>
                </a:solidFill>
                <a:latin typeface="PingFang SC"/>
              </a:rPr>
              <a:t>Manifest
Cell / Attempt / Event
Rule / Judge / Human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93392" y="5522976"/>
            <a:ext cx="8211312" cy="502920"/>
          </a:xfrm>
          <a:prstGeom prst="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5650992"/>
            <a:ext cx="7818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/>
              </a:rPr>
              <a:t>保留决策真实性　｜　隔离工具副作用　｜　裁决不污染事实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平台闭环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Identity → Asset → Run → Evidence →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每一层都有稳定身份；历史 Run 不被修复动作覆盖。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04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984248"/>
            <a:ext cx="1572768" cy="2852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23544" y="2221992"/>
            <a:ext cx="457200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22199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7980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21617"/>
                </a:solidFill>
                <a:latin typeface="PingFang SC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401568"/>
            <a:ext cx="11704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7706B"/>
                </a:solidFill>
                <a:latin typeface="PingFang SC"/>
              </a:rPr>
              <a:t>Target
Prompt SHA
Tool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246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51176" y="1984248"/>
            <a:ext cx="1572768" cy="2852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70632" y="2221992"/>
            <a:ext cx="457200" cy="329184"/>
          </a:xfrm>
          <a:prstGeom prst="rect">
            <a:avLst/>
          </a:prstGeom>
          <a:solidFill>
            <a:srgbClr val="F8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22199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A76509"/>
                </a:solidFill>
                <a:latin typeface="PingFang SC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7980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21617"/>
                </a:solidFill>
                <a:latin typeface="PingFang SC"/>
              </a:rPr>
              <a:t>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3401568"/>
            <a:ext cx="11704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7706B"/>
                </a:solidFill>
                <a:latin typeface="PingFang SC"/>
              </a:rPr>
              <a:t>Case
Profile
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7" y="3246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98264" y="1984248"/>
            <a:ext cx="1572768" cy="2852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2221992"/>
            <a:ext cx="457200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22199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7980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21617"/>
                </a:solidFill>
                <a:latin typeface="PingFang SC"/>
              </a:rPr>
              <a:t>Manifest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401568"/>
            <a:ext cx="11704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7706B"/>
                </a:solidFill>
                <a:latin typeface="PingFang SC"/>
              </a:rPr>
              <a:t>Canonical
Preview
Hash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176" y="3246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984248"/>
            <a:ext cx="1572768" cy="2852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64808" y="2221992"/>
            <a:ext cx="457200" cy="329184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222199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17745A"/>
                </a:solidFill>
                <a:latin typeface="PingFang SC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27980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21617"/>
                </a:solidFill>
                <a:latin typeface="PingFang SC"/>
              </a:rPr>
              <a:t>Execution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401568"/>
            <a:ext cx="11704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7706B"/>
                </a:solidFill>
                <a:latin typeface="PingFang SC"/>
              </a:rPr>
              <a:t>Cell
Attempt
Event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7264" y="3246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1984248"/>
            <a:ext cx="1572768" cy="2852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11896" y="2221992"/>
            <a:ext cx="457200" cy="329184"/>
          </a:xfrm>
          <a:prstGeom prst="rect">
            <a:avLst/>
          </a:prstGeom>
          <a:solidFill>
            <a:srgbClr val="F8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11896" y="222199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C84438"/>
                </a:solidFill>
                <a:latin typeface="PingFang SC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27980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21617"/>
                </a:solidFill>
                <a:latin typeface="PingFang SC"/>
              </a:rPr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1896" y="3401568"/>
            <a:ext cx="11704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7706B"/>
                </a:solidFill>
                <a:latin typeface="PingFang SC"/>
              </a:rPr>
              <a:t>Rule
Judge
Human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3246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39528" y="1984248"/>
            <a:ext cx="1572768" cy="285292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58984" y="2221992"/>
            <a:ext cx="457200" cy="329184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58984" y="222199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17745A"/>
                </a:solidFill>
                <a:latin typeface="PingFang SC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58984" y="27980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121617"/>
                </a:solidFill>
                <a:latin typeface="PingFang SC"/>
              </a:rPr>
              <a:t>Release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58984" y="3401568"/>
            <a:ext cx="117043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67706B"/>
                </a:solidFill>
                <a:latin typeface="PingFang SC"/>
              </a:rPr>
              <a:t>Report
Gate
Audit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5960" y="5340096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21617"/>
                </a:solidFill>
                <a:latin typeface="PingFang SC"/>
              </a:rPr>
              <a:t>同一事实链支持本地调试、团队评审、CI Gate 与生产回灌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5806440"/>
            <a:ext cx="8549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67706B"/>
                </a:solidFill>
                <a:latin typeface="PingFang SC"/>
              </a:rPr>
              <a:t>不是一张绿色分数卡，而是一条可定位、可复跑、可追责的发布证据链。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双入口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不同能力可以给出不同方案，共享同一种证据合同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Codex 面向开发者闭环；Web 助手面向产品、运营与测试人员。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05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440680" cy="3886200"/>
          </a:xfrm>
          <a:prstGeom prst="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84831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ingFang SC"/>
              </a:rPr>
              <a:t>Codex + 项目 Skill + 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72968"/>
            <a:ext cx="470916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130">
                <a:solidFill>
                  <a:srgbClr val="CFD4D1"/>
                </a:solidFill>
                <a:latin typeface="PingFang SC"/>
              </a:defRPr>
            </a:pPr>
            <a:r>
              <a:t>•  读取代码、Prompt Diff 和业务不变量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30">
                <a:solidFill>
                  <a:srgbClr val="CFD4D1"/>
                </a:solidFill>
                <a:latin typeface="PingFang SC"/>
              </a:defRPr>
            </a:pPr>
            <a:r>
              <a:t>•  查询、创建并治理 Case / Sample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30">
                <a:solidFill>
                  <a:srgbClr val="CFD4D1"/>
                </a:solidFill>
                <a:latin typeface="PingFang SC"/>
              </a:defRPr>
            </a:pPr>
            <a:r>
              <a:t>•  Preview 后按 Manifest 提交回归矩阵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30">
                <a:solidFill>
                  <a:srgbClr val="CFD4D1"/>
                </a:solidFill>
                <a:latin typeface="PingFang SC"/>
              </a:defRPr>
            </a:pPr>
            <a:r>
              <a:t>•  基于 Timeline 修复并输出验收结论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5093208"/>
            <a:ext cx="2148840" cy="329184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93208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17745A"/>
                </a:solidFill>
                <a:latin typeface="PingFang SC"/>
              </a:rPr>
              <a:t>主入口 · 改软件 + 治回归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1828800"/>
            <a:ext cx="5120640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2084831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7745A"/>
                </a:solidFill>
                <a:latin typeface="PingFang SC"/>
              </a:rPr>
              <a:t>PRODUCT /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51460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121617"/>
                </a:solidFill>
                <a:latin typeface="PingFang SC"/>
              </a:rPr>
              <a:t>AgentRig 智能评测助手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172968"/>
            <a:ext cx="4315968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130">
                <a:solidFill>
                  <a:srgbClr val="67706B"/>
                </a:solidFill>
                <a:latin typeface="PingFang SC"/>
              </a:defRPr>
            </a:pPr>
            <a:r>
              <a:t>•  自然语言描述评测目标和成本边界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30">
                <a:solidFill>
                  <a:srgbClr val="67706B"/>
                </a:solidFill>
                <a:latin typeface="PingFang SC"/>
              </a:defRPr>
            </a:pPr>
            <a:r>
              <a:t>•  模型生成自己的可编辑计划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30">
                <a:solidFill>
                  <a:srgbClr val="67706B"/>
                </a:solidFill>
                <a:latin typeface="PingFang SC"/>
              </a:defRPr>
            </a:pPr>
            <a:r>
              <a:t>•  高成本执行必须人工确认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130">
                <a:solidFill>
                  <a:srgbClr val="67706B"/>
                </a:solidFill>
                <a:latin typeface="PingFang SC"/>
              </a:defRPr>
            </a:pPr>
            <a:r>
              <a:t>•  复用 Target、Case、Run 与报告资产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56832" y="5093208"/>
            <a:ext cx="2148840" cy="329184"/>
          </a:xfrm>
          <a:prstGeom prst="rect">
            <a:avLst/>
          </a:prstGeom>
          <a:solidFill>
            <a:srgbClr val="F8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5093208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A76509"/>
                </a:solidFill>
                <a:latin typeface="PingFang SC"/>
              </a:rPr>
              <a:t>辅助入口 · 无需 MCP 知识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971032"/>
            <a:ext cx="8412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67706B"/>
                </a:solidFill>
                <a:latin typeface="PingFang SC"/>
              </a:rPr>
              <a:t>不要求两种模型生成同一方案；要求每个结论都能回到冻结资产和运行证据。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公开被测对象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EditFlow：可复现、可脱敏、仍然足够真实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以 lassist 的真实修图链路为基础，去除私有素材、版本与基础设施依赖。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06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47088"/>
            <a:ext cx="3840480" cy="4114800"/>
          </a:xfrm>
          <a:prstGeom prst="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8408" y="2121408"/>
            <a:ext cx="1508760" cy="329184"/>
          </a:xfrm>
          <a:prstGeom prst="rect">
            <a:avLst/>
          </a:prstGeom>
          <a:solidFill>
            <a:srgbClr val="1D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2140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80A9FF"/>
                </a:solidFill>
                <a:latin typeface="PingFang SC"/>
              </a:rPr>
              <a:t>OPEN DEMO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6883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PingFang SC"/>
              </a:rPr>
              <a:t>Agno + DeepSeek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346704"/>
            <a:ext cx="301752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50" b="0">
                <a:solidFill>
                  <a:srgbClr val="CFD4D1"/>
                </a:solidFill>
                <a:latin typeface="PingFang SC"/>
              </a:rPr>
              <a:t>PostgreSQL Session
HTTP/SSE Target
External tool execution
Local deterministic 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533095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8EA5FF"/>
                </a:solidFill>
                <a:latin typeface="PingFang SC"/>
              </a:rPr>
              <a:t>不上传图片 · 不调用第三方图片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6048" y="1856231"/>
            <a:ext cx="43891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856231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1874519"/>
            <a:ext cx="1965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21617"/>
                </a:solidFill>
                <a:latin typeface="Menlo"/>
              </a:rPr>
              <a:t>inspect_image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1883663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67706B"/>
                </a:solidFill>
                <a:latin typeface="PingFang SC"/>
              </a:rPr>
              <a:t>读取图片属性与主体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404872"/>
            <a:ext cx="617220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6048" y="2624327"/>
            <a:ext cx="43891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2624327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0992" y="2642615"/>
            <a:ext cx="1965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21617"/>
                </a:solidFill>
                <a:latin typeface="Menlo"/>
              </a:rPr>
              <a:t>retouch_photo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265175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67706B"/>
                </a:solidFill>
                <a:latin typeface="PingFang SC"/>
              </a:rPr>
              <a:t>亮度、对比度等像素调整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6048" y="3172968"/>
            <a:ext cx="617220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56048" y="3392424"/>
            <a:ext cx="43891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56048" y="339242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50992" y="3410712"/>
            <a:ext cx="1965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21617"/>
                </a:solidFill>
                <a:latin typeface="Menlo"/>
              </a:rPr>
              <a:t>search_assets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4112" y="341985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67706B"/>
                </a:solidFill>
                <a:latin typeface="PingFang SC"/>
              </a:rPr>
              <a:t>搜索受控素材并返回真实 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56048" y="3941063"/>
            <a:ext cx="617220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56048" y="4160520"/>
            <a:ext cx="43891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4160520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4178807"/>
            <a:ext cx="1965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21617"/>
                </a:solidFill>
                <a:latin typeface="Menlo"/>
              </a:rPr>
              <a:t>apply_asset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187952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67706B"/>
                </a:solidFill>
                <a:latin typeface="PingFang SC"/>
              </a:rPr>
              <a:t>消费素材 ID 与最新图片引用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56048" y="4709159"/>
            <a:ext cx="617220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56048" y="4928616"/>
            <a:ext cx="43891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56048" y="4928616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50992" y="4946903"/>
            <a:ext cx="19659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121617"/>
                </a:solidFill>
                <a:latin typeface="Menlo"/>
              </a:rPr>
              <a:t>crop_photo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54112" y="4956048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67706B"/>
                </a:solidFill>
                <a:latin typeface="PingFang SC"/>
              </a:rPr>
              <a:t>按目标比例裁剪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56048" y="5477255"/>
            <a:ext cx="617220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56048" y="5715000"/>
            <a:ext cx="6172200" cy="384048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02352" y="5806440"/>
            <a:ext cx="5870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7745A"/>
                </a:solidFill>
                <a:latin typeface="PingFang SC"/>
              </a:rPr>
              <a:t>真实：模型、协议、Session、工具决策　｜　受控：图片工具结果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真实回归 · 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同一冻结 Case 跑 5 次：2 Pass / 3 Behavior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单次成功掩盖模型方差；父 Run completed 不等于业务验收通过。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07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47088"/>
            <a:ext cx="3886200" cy="4315968"/>
          </a:xfrm>
          <a:prstGeom prst="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1226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HEADLINE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651760"/>
            <a:ext cx="310896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PingFang SC"/>
              </a:rPr>
              <a:t>一步完成调亮、
雪山背景与 4:5 裁剪，
并保持人物。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626864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30" b="0">
                <a:solidFill>
                  <a:srgbClr val="AAB3AF"/>
                </a:solidFill>
                <a:latin typeface="Menlo"/>
              </a:rPr>
              <a:t>case_editflow_one_step_mixed_chain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193792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30" b="0">
                <a:solidFill>
                  <a:srgbClr val="AAB3AF"/>
                </a:solidFill>
                <a:latin typeface="Menlo"/>
              </a:rPr>
              <a:t>Manifest  bb5008e6…6766aa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559552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30" b="0">
                <a:solidFill>
                  <a:srgbClr val="AAB3AF"/>
                </a:solidFill>
                <a:latin typeface="Menlo"/>
              </a:rPr>
              <a:t>Prompt SHA 43157c…9572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29968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17745A"/>
                </a:solidFill>
                <a:latin typeface="Helvetica Neu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5146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0">
                <a:solidFill>
                  <a:srgbClr val="67706B"/>
                </a:solidFill>
                <a:latin typeface="PingFang SC"/>
              </a:rPr>
              <a:t>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029968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C84438"/>
                </a:solidFill>
                <a:latin typeface="Helvetica Neue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51460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0">
                <a:solidFill>
                  <a:srgbClr val="67706B"/>
                </a:solidFill>
                <a:latin typeface="PingFang SC"/>
              </a:rPr>
              <a:t>Behavior Fail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02996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285CF5"/>
                </a:solidFill>
                <a:latin typeface="Helvetica Neue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51460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0">
                <a:solidFill>
                  <a:srgbClr val="67706B"/>
                </a:solidFill>
                <a:latin typeface="PingFang SC"/>
              </a:rPr>
              <a:t>Independent Attempts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2352" y="3035808"/>
            <a:ext cx="594360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4015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>
                <a:solidFill>
                  <a:srgbClr val="C84438"/>
                </a:solidFill>
                <a:latin typeface="PingFang SC"/>
              </a:rPr>
              <a:t>失败轨迹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3822191"/>
            <a:ext cx="5925312" cy="1097280"/>
          </a:xfrm>
          <a:prstGeom prst="rect">
            <a:avLst/>
          </a:prstGeom>
          <a:solidFill>
            <a:srgbClr val="F8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76672" y="4096512"/>
            <a:ext cx="5394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20" b="1">
                <a:solidFill>
                  <a:srgbClr val="C84438"/>
                </a:solidFill>
                <a:latin typeface="Menlo"/>
              </a:rPr>
              <a:t>retouch_photo  →  inspect_image  →  search_assets  →  apply_asset  →  crop_photo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221224"/>
            <a:ext cx="5897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B312F"/>
                </a:solidFill>
                <a:latin typeface="PingFang SC"/>
              </a:rPr>
              <a:t>检查有时落在调亮之后，违反“先检查再修改”的冻结行为契约。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742432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40" b="0">
                <a:solidFill>
                  <a:srgbClr val="67706B"/>
                </a:solidFill>
                <a:latin typeface="Menlo"/>
              </a:rPr>
              <a:t>Run  run_61e76493…8d9c03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Codex +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不是盲目增加用例，而是按 Prompt Diff 治理风险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项目 Skill 先冻结身份与不变量，再查询 AgentRig 资产并分类。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08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74519"/>
            <a:ext cx="2450592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2103120"/>
            <a:ext cx="841248" cy="329184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17745A"/>
                </a:solidFill>
                <a:latin typeface="PingFang SC"/>
              </a:rPr>
              <a:t>REUSE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791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21617"/>
                </a:solidFill>
                <a:latin typeface="PingFang SC"/>
              </a:rPr>
              <a:t>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16382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已有用例已覆盖，直接进入矩阵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6432" y="1874519"/>
            <a:ext cx="2450592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85032" y="2103120"/>
            <a:ext cx="841248" cy="329184"/>
          </a:xfrm>
          <a:prstGeom prst="rect">
            <a:avLst/>
          </a:prstGeom>
          <a:solidFill>
            <a:srgbClr val="F8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103120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A76509"/>
                </a:solidFill>
                <a:latin typeface="PingFang SC"/>
              </a:rPr>
              <a:t>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6791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21617"/>
                </a:solidFill>
                <a:latin typeface="PingFang SC"/>
              </a:rPr>
              <a:t>增强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16382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行为契约变化，增强现有断言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874519"/>
            <a:ext cx="2450592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28232" y="2103120"/>
            <a:ext cx="841248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103120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NEW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6791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21617"/>
                </a:solidFill>
                <a:latin typeface="PingFang SC"/>
              </a:rPr>
              <a:t>新增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16382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变更引入新风险，现场创建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42832" y="1874519"/>
            <a:ext cx="2450592" cy="196596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71432" y="2103120"/>
            <a:ext cx="841248" cy="329184"/>
          </a:xfrm>
          <a:prstGeom prst="rect">
            <a:avLst/>
          </a:prstGeom>
          <a:solidFill>
            <a:srgbClr val="EC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2103120"/>
            <a:ext cx="84124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67706B"/>
                </a:solidFill>
                <a:latin typeface="PingFang SC"/>
              </a:rPr>
              <a:t>EXCLUDE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6791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21617"/>
                </a:solidFill>
                <a:latin typeface="PingFang SC"/>
              </a:rPr>
              <a:t>排除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316382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与本次 Prompt Diff 无关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068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21617"/>
                </a:solidFill>
                <a:latin typeface="PingFang SC"/>
              </a:rPr>
              <a:t>本次防回归矩阵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736592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0" b="1">
                <a:solidFill>
                  <a:srgbClr val="A76509"/>
                </a:solidFill>
                <a:latin typeface="PingFang SC"/>
              </a:rPr>
              <a:t>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73659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" b="1">
                <a:solidFill>
                  <a:srgbClr val="2B312F"/>
                </a:solidFill>
                <a:latin typeface="Menlo"/>
              </a:rPr>
              <a:t>brighten_only_no_over_routing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4736592"/>
            <a:ext cx="5897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" b="0">
                <a:solidFill>
                  <a:srgbClr val="67706B"/>
                </a:solidFill>
                <a:latin typeface="PingFang SC"/>
              </a:rPr>
              <a:t>简单调亮不能拆成素材或裁剪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102352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0" b="1">
                <a:solidFill>
                  <a:srgbClr val="A76509"/>
                </a:solidFill>
                <a:latin typeface="PingFang SC"/>
              </a:rPr>
              <a:t>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10235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" b="1">
                <a:solidFill>
                  <a:srgbClr val="2B312F"/>
                </a:solidFill>
                <a:latin typeface="Menlo"/>
              </a:rPr>
              <a:t>asset_search_miss_no_invention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5102352"/>
            <a:ext cx="5897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" b="0">
                <a:solidFill>
                  <a:srgbClr val="67706B"/>
                </a:solidFill>
                <a:latin typeface="PingFang SC"/>
              </a:rPr>
              <a:t>搜索为空不能编造 asset_id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468112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0" b="1">
                <a:solidFill>
                  <a:srgbClr val="A76509"/>
                </a:solidFill>
                <a:latin typeface="PingFang SC"/>
              </a:rPr>
              <a:t>Change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46811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" b="1">
                <a:solidFill>
                  <a:srgbClr val="2B312F"/>
                </a:solidFill>
                <a:latin typeface="Menlo"/>
              </a:rPr>
              <a:t>preserve_subject_propagation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5468112"/>
            <a:ext cx="5897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" b="0">
                <a:solidFill>
                  <a:srgbClr val="67706B"/>
                </a:solidFill>
                <a:latin typeface="PingFang SC"/>
              </a:rPr>
              <a:t>人物保护必须跨工具传播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833872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0" b="1">
                <a:solidFill>
                  <a:srgbClr val="285CF5"/>
                </a:solidFill>
                <a:latin typeface="PingFang SC"/>
              </a:rPr>
              <a:t>New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83387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" b="1">
                <a:solidFill>
                  <a:srgbClr val="2B312F"/>
                </a:solidFill>
                <a:latin typeface="Menlo"/>
              </a:rPr>
              <a:t>one_step_mixed_chain_boundary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5833872"/>
            <a:ext cx="5897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" b="0">
                <a:solidFill>
                  <a:srgbClr val="67706B"/>
                </a:solidFill>
                <a:latin typeface="PingFang SC"/>
              </a:rPr>
              <a:t>一步完成也不能绕过专用工具边界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6190488"/>
            <a:ext cx="8321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80" b="1">
                <a:solidFill>
                  <a:srgbClr val="C84438"/>
                </a:solidFill>
                <a:latin typeface="PingFang SC"/>
              </a:rPr>
              <a:t>Draft → 人工审核 → approved；创建者不能批准自己创建的资产。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最小修复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只改模型可见边界，并用 Prompt SHA 证明 Candidate 已生效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HTTP/SSE 适配层没有加入关键词路由，也没有为视频写死答案。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09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56231"/>
            <a:ext cx="6629400" cy="4114800"/>
          </a:xfrm>
          <a:prstGeom prst="rect">
            <a:avLst/>
          </a:prstGeom>
          <a:solidFill>
            <a:srgbClr val="0E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" y="2103120"/>
            <a:ext cx="1097280" cy="329184"/>
          </a:xfrm>
          <a:prstGeom prst="rect">
            <a:avLst/>
          </a:prstGeom>
          <a:solidFill>
            <a:srgbClr val="1D2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103120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80A9FF"/>
                </a:solidFill>
                <a:latin typeface="PingFang SC"/>
              </a:rPr>
              <a:t>PROMPT DIFF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688336"/>
            <a:ext cx="5943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20" b="0">
                <a:solidFill>
                  <a:srgbClr val="D7E0E4"/>
                </a:solidFill>
                <a:latin typeface="Menlo"/>
              </a:rPr>
              <a:t>- retouch_photo 可完成复合图片编辑
+ retouch_photo 仅处理亮度、对比度等像素调整
+ 背景/素材必须 search_assets → apply_asset
+ 比例必须 crop_photo
+ 下一工具消费最新 output_image_ref
+ preserve_subject 传播到相关工具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5422392"/>
            <a:ext cx="5303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8EA5FF"/>
                </a:solidFill>
                <a:latin typeface="Menlo"/>
              </a:rPr>
              <a:t>修改范围：system.md + tool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9659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C84438"/>
                </a:solidFill>
                <a:latin typeface="PingFang SC"/>
              </a:rPr>
              <a:t>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404872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C84438"/>
                </a:solidFill>
                <a:latin typeface="Menlo"/>
              </a:rPr>
              <a:t>43157c…9572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999232"/>
            <a:ext cx="324612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36499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17745A"/>
                </a:solidFill>
                <a:latin typeface="PingFang SC"/>
              </a:rPr>
              <a:t>CANDIDATE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803904"/>
            <a:ext cx="31272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7745A"/>
                </a:solidFill>
                <a:latin typeface="Menlo"/>
              </a:rPr>
              <a:t>71adb3…f7fd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599432"/>
            <a:ext cx="3246120" cy="713232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477316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17745A"/>
                </a:solidFill>
                <a:latin typeface="PingFang SC"/>
              </a:rPr>
              <a:t>SHA 不变，Candidate
就没有验收资格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678424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67706B"/>
                </a:solidFill>
                <a:latin typeface="PingFang SC"/>
              </a:rPr>
              <a:t>仓库门禁：34 tests passed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Candidate 回归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同 Case 5/5；六 Case 矩阵 30/30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每次 Attempt 都独立执行；没有用一个绿色总分掩盖方差。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10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1792224"/>
            <a:ext cx="8403336" cy="4645152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ditflow-02-candidate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8366760" cy="46085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72600" y="1956816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285CF5"/>
                </a:solidFill>
                <a:latin typeface="Helvetica Neue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441448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0">
                <a:solidFill>
                  <a:srgbClr val="67706B"/>
                </a:solidFill>
                <a:latin typeface="PingFang SC"/>
              </a:rPr>
              <a:t>Cells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4432" y="1956816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285CF5"/>
                </a:solidFill>
                <a:latin typeface="Helvetica Neue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4432" y="2441448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0">
                <a:solidFill>
                  <a:srgbClr val="67706B"/>
                </a:solidFill>
                <a:latin typeface="PingFang SC"/>
              </a:rPr>
              <a:t>Attempts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54312" y="2926080"/>
            <a:ext cx="1993392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326440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17745A"/>
                </a:solidFill>
                <a:latin typeface="Helvetica Neue"/>
              </a:rPr>
              <a:t>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749039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0">
                <a:solidFill>
                  <a:srgbClr val="67706B"/>
                </a:solidFill>
                <a:latin typeface="PingFang SC"/>
              </a:rP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4432" y="326440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C84438"/>
                </a:solidFill>
                <a:latin typeface="Helvetica Neue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14432" y="3749039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0">
                <a:solidFill>
                  <a:srgbClr val="67706B"/>
                </a:solidFill>
                <a:latin typeface="PingFang SC"/>
              </a:rPr>
              <a:t>Fail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54312" y="4325112"/>
            <a:ext cx="1993392" cy="1005840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8048" y="4535424"/>
            <a:ext cx="16459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7745A"/>
                </a:solidFill>
                <a:latin typeface="PingFang SC"/>
              </a:rPr>
              <a:t>headline
3 / 5 → 5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5650992"/>
            <a:ext cx="19933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30" b="0">
                <a:solidFill>
                  <a:srgbClr val="67706B"/>
                </a:solidFill>
                <a:latin typeface="Menlo"/>
              </a:rPr>
              <a:t>run_3afacf…4793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行为证据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不只验证最终文字：完整 Timeline 可以下钻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工具参数、Provider 来源、结果引用与裁决都关联同一 Attempt。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11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1792224"/>
            <a:ext cx="8220455" cy="4645152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ditflow-0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8183879" cy="46085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189720" y="1901952"/>
            <a:ext cx="402336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901952"/>
            <a:ext cx="4023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2368" y="194767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21617"/>
                </a:solidFill>
                <a:latin typeface="Menlo"/>
              </a:rPr>
              <a:t>inspect_image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2523744"/>
            <a:ext cx="402336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523744"/>
            <a:ext cx="4023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8" y="2569464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21617"/>
                </a:solidFill>
                <a:latin typeface="Menlo"/>
              </a:rPr>
              <a:t>search_assets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3145536"/>
            <a:ext cx="402336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145536"/>
            <a:ext cx="4023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02368" y="319125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21617"/>
                </a:solidFill>
                <a:latin typeface="Menlo"/>
              </a:rPr>
              <a:t>retouch_photo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3767328"/>
            <a:ext cx="402336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3767328"/>
            <a:ext cx="4023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381304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21617"/>
                </a:solidFill>
                <a:latin typeface="Menlo"/>
              </a:rPr>
              <a:t>apply_asset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4389120"/>
            <a:ext cx="402336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4389120"/>
            <a:ext cx="40233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44348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121617"/>
                </a:solidFill>
                <a:latin typeface="Menlo"/>
              </a:rPr>
              <a:t>crop_photo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5102352"/>
            <a:ext cx="2084831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537667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7745A"/>
                </a:solidFill>
                <a:latin typeface="PingFang SC"/>
              </a:rPr>
              <a:t>✓ asset_id 来自搜索
✓ preserve_subject 传播
✓ image_ref 逐步更新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低副作用核心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真实工具结果，如何变成可审核的零真实调用回归资产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真实来源、人工责任和重复成本被放进同一条证据链。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12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920240"/>
            <a:ext cx="1938528" cy="3246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2176272"/>
            <a:ext cx="43891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176272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706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21617"/>
                </a:solidFill>
                <a:latin typeface="PingFang SC"/>
              </a:rP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355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真实 MCP 调用 1 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88536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285CF5"/>
                </a:solidFill>
                <a:latin typeface="Menlo"/>
              </a:rPr>
              <a:t>run_db173d…59ef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5" y="33192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1920240"/>
            <a:ext cx="1938528" cy="3246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45536" y="2176272"/>
            <a:ext cx="438912" cy="329184"/>
          </a:xfrm>
          <a:prstGeom prst="rect">
            <a:avLst/>
          </a:prstGeom>
          <a:solidFill>
            <a:srgbClr val="F8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5536" y="2176272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A76509"/>
                </a:solidFill>
                <a:latin typeface="PingFang S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27706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21617"/>
                </a:solidFill>
                <a:latin typeface="PingFang SC"/>
              </a:rPr>
              <a:t>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3355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持久化 real_tool 事实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4288536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A76509"/>
                </a:solidFill>
                <a:latin typeface="Menlo"/>
              </a:rPr>
              <a:t>evt_32fb37…f80d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5464" y="33192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38928" y="1920240"/>
            <a:ext cx="1938528" cy="3246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58384" y="2176272"/>
            <a:ext cx="438912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58384" y="2176272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384" y="27706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21617"/>
                </a:solidFill>
                <a:latin typeface="PingFang SC"/>
              </a:rPr>
              <a:t>Sample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4" y="3355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Codex 创建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8384" y="4288536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285CF5"/>
                </a:solidFill>
                <a:latin typeface="Menlo"/>
              </a:rPr>
              <a:t>sample_editflow…0814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33192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51775" y="1920240"/>
            <a:ext cx="1938528" cy="3246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71231" y="2176272"/>
            <a:ext cx="438912" cy="329184"/>
          </a:xfrm>
          <a:prstGeom prst="rect">
            <a:avLst/>
          </a:prstGeom>
          <a:solidFill>
            <a:srgbClr val="F8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71231" y="2176272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C84438"/>
                </a:solidFill>
                <a:latin typeface="PingFang SC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27706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21617"/>
                </a:solidFill>
                <a:latin typeface="PingFang SC"/>
              </a:rPr>
              <a:t>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71231" y="3355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人类批准来源与边界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1231" y="4288536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C84438"/>
                </a:solidFill>
                <a:latin typeface="Menlo"/>
              </a:rPr>
              <a:t>approved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59" y="33192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85CF5"/>
                </a:solidFill>
                <a:latin typeface="PingFang SC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64624" y="1920240"/>
            <a:ext cx="1938528" cy="324612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84080" y="2176272"/>
            <a:ext cx="438912" cy="329184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2176272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17745A"/>
                </a:solidFill>
                <a:latin typeface="PingFang SC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277063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21617"/>
                </a:solidFill>
                <a:latin typeface="PingFang SC"/>
              </a:rPr>
              <a:t>Replay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355848"/>
            <a:ext cx="14813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Sample-only ×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4288536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19" b="1">
                <a:solidFill>
                  <a:srgbClr val="17745A"/>
                </a:solidFill>
                <a:latin typeface="Menlo"/>
              </a:rPr>
              <a:t>run_1a209c…0b90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47088" y="5513832"/>
            <a:ext cx="8503920" cy="566928"/>
          </a:xfrm>
          <a:prstGeom prst="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48256" y="5669280"/>
            <a:ext cx="81015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PingFang SC"/>
              </a:rPr>
              <a:t>Replay：5 / 5 Sample hit　｜　该 Run 中 real_tool Provider Attempt = 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普通用户入口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自然语言规划，确认与提交分离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无需理解 MCP；成本边界和人工责任仍由 Core 强制执行。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13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1792224"/>
            <a:ext cx="8403336" cy="4645152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ditflow-05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8366760" cy="46085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72600" y="192024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285CF5"/>
                </a:solidFill>
                <a:latin typeface="Helvetica Neu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4048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0">
                <a:solidFill>
                  <a:srgbClr val="67706B"/>
                </a:solidFill>
                <a:latin typeface="PingFang SC"/>
              </a:rPr>
              <a:t>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192024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1">
                <a:solidFill>
                  <a:srgbClr val="285CF5"/>
                </a:solidFill>
                <a:latin typeface="Helvetica Ne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240487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0">
                <a:solidFill>
                  <a:srgbClr val="67706B"/>
                </a:solidFill>
                <a:latin typeface="PingFang SC"/>
              </a:rPr>
              <a:t>Attempts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54312" y="2889504"/>
            <a:ext cx="1993392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322783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1">
                <a:solidFill>
                  <a:srgbClr val="2B312F"/>
                </a:solidFill>
                <a:latin typeface="PingFang SC"/>
              </a:rPr>
              <a:t>01  生成 Draft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675887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1">
                <a:solidFill>
                  <a:srgbClr val="2B312F"/>
                </a:solidFill>
                <a:latin typeface="PingFang SC"/>
              </a:rPr>
              <a:t>02  重复执行触发确认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41239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1">
                <a:solidFill>
                  <a:srgbClr val="2B312F"/>
                </a:solidFill>
                <a:latin typeface="PingFang SC"/>
              </a:rPr>
              <a:t>03  confirm 不创建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5720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1">
                <a:solidFill>
                  <a:srgbClr val="2B312F"/>
                </a:solidFill>
                <a:latin typeface="PingFang SC"/>
              </a:rPr>
              <a:t>04  submit 才执行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54312" y="5102352"/>
            <a:ext cx="1993392" cy="658368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2" y="5230368"/>
            <a:ext cx="171907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80" b="1">
                <a:solidFill>
                  <a:srgbClr val="17745A"/>
                </a:solidFill>
                <a:latin typeface="Menlo"/>
              </a:rPr>
              <a:t>run_a1c88b…23fb
3 / 3 PASS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平台优势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不是 EditFlow 专用脚本，而是可替换的评测控制面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框架、结果来源、裁决方式和消费入口彼此解耦。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14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847088"/>
            <a:ext cx="932688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932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入口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01952" y="1847088"/>
            <a:ext cx="9162288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7128" y="1975104"/>
            <a:ext cx="8641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B312F"/>
                </a:solidFill>
                <a:latin typeface="PingFang SC"/>
              </a:rPr>
              <a:t>Codex / MCP · Web Assistant · CLI · 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606040"/>
            <a:ext cx="932688" cy="329184"/>
          </a:xfrm>
          <a:prstGeom prst="rect">
            <a:avLst/>
          </a:prstGeom>
          <a:solidFill>
            <a:srgbClr val="F8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606040"/>
            <a:ext cx="932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A76509"/>
                </a:solidFill>
                <a:latin typeface="PingFang SC"/>
              </a:rPr>
              <a:t>Driver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2606040"/>
            <a:ext cx="9162288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7128" y="2734056"/>
            <a:ext cx="8641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B312F"/>
                </a:solidFill>
                <a:latin typeface="PingFang SC"/>
              </a:rPr>
              <a:t>HTTP/SSE · OpenAI-compatible · AgentScope · AG-UI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3364991"/>
            <a:ext cx="932688" cy="329184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64991"/>
            <a:ext cx="932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17745A"/>
                </a:solidFill>
                <a:latin typeface="PingFang SC"/>
              </a:rPr>
              <a:t>Provider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1952" y="3364991"/>
            <a:ext cx="9162288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67128" y="3493008"/>
            <a:ext cx="8641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2B312F"/>
                </a:solidFill>
                <a:latin typeface="PingFang SC"/>
              </a:rPr>
              <a:t>Fixture · Approved Sample · Simulator · Real Tool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" y="4123944"/>
            <a:ext cx="932688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23944"/>
            <a:ext cx="932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01952" y="4123944"/>
            <a:ext cx="9162288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7128" y="4251959"/>
            <a:ext cx="8641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B312F"/>
                </a:solidFill>
                <a:latin typeface="PingFang SC"/>
              </a:rPr>
              <a:t>Manifest · Cell · Attempt · Event · Timeline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4882896"/>
            <a:ext cx="932688" cy="329184"/>
          </a:xfrm>
          <a:prstGeom prst="rect">
            <a:avLst/>
          </a:prstGeom>
          <a:solidFill>
            <a:srgbClr val="F8E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882896"/>
            <a:ext cx="9326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C84438"/>
                </a:solidFill>
                <a:latin typeface="PingFang SC"/>
              </a:rPr>
              <a:t>Decision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01952" y="4882896"/>
            <a:ext cx="9162288" cy="512064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67128" y="5010912"/>
            <a:ext cx="8641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2B312F"/>
                </a:solidFill>
                <a:latin typeface="PingFang SC"/>
              </a:rPr>
              <a:t>Rule · Judge · Human Review · Report · Release Gate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5806440"/>
            <a:ext cx="1920240" cy="329184"/>
          </a:xfrm>
          <a:prstGeom prst="rect">
            <a:avLst/>
          </a:prstGeom>
          <a:solidFill>
            <a:srgbClr val="EC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58064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67706B"/>
                </a:solidFill>
                <a:latin typeface="PingFang SC"/>
              </a:rPr>
              <a:t>Project isolation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79" y="5806440"/>
            <a:ext cx="1920240" cy="329184"/>
          </a:xfrm>
          <a:prstGeom prst="rect">
            <a:avLst/>
          </a:prstGeom>
          <a:solidFill>
            <a:srgbClr val="EC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79" y="58064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67706B"/>
                </a:solidFill>
                <a:latin typeface="PingFang SC"/>
              </a:rPr>
              <a:t>Audit log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02352" y="5806440"/>
            <a:ext cx="1920240" cy="329184"/>
          </a:xfrm>
          <a:prstGeom prst="rect">
            <a:avLst/>
          </a:prstGeom>
          <a:solidFill>
            <a:srgbClr val="EC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02352" y="58064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67706B"/>
                </a:solidFill>
                <a:latin typeface="PingFang SC"/>
              </a:rPr>
              <a:t>Durable job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78624" y="5806440"/>
            <a:ext cx="1920240" cy="329184"/>
          </a:xfrm>
          <a:prstGeom prst="rect">
            <a:avLst/>
          </a:prstGeom>
          <a:solidFill>
            <a:srgbClr val="EC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78624" y="58064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67706B"/>
                </a:solidFill>
                <a:latin typeface="PingFang SC"/>
              </a:rPr>
              <a:t>OTLP → Case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54896" y="5806440"/>
            <a:ext cx="1920240" cy="329184"/>
          </a:xfrm>
          <a:prstGeom prst="rect">
            <a:avLst/>
          </a:prstGeom>
          <a:solidFill>
            <a:srgbClr val="ECE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54896" y="580644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67706B"/>
                </a:solidFill>
                <a:latin typeface="PingFang SC"/>
              </a:rPr>
              <a:t>Failure patterns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6254496"/>
            <a:ext cx="8321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0">
                <a:solidFill>
                  <a:srgbClr val="67706B"/>
                </a:solidFill>
                <a:latin typeface="PingFang SC"/>
              </a:rPr>
              <a:t>核心模块可单独使用；AgentTeams 只在动态策展或语义裁决需要时启用。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开源生态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把 AgentScope 的真实闭环经验，抽成可本地部署的开放合同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AgentRig 不是复制一个内部页面，而是开放身份、资产、运行、证据和 Gate。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15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65376"/>
            <a:ext cx="3401568" cy="356616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" y="2130552"/>
            <a:ext cx="457200" cy="329184"/>
          </a:xfrm>
          <a:prstGeom prst="rect">
            <a:avLst/>
          </a:prstGeom>
          <a:solidFill>
            <a:srgbClr val="E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13055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285CF5"/>
                </a:solidFill>
                <a:latin typeface="PingFang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706624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21617"/>
                </a:solidFill>
                <a:latin typeface="PingFang SC"/>
              </a:rPr>
              <a:t>AgentScope 实践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346704"/>
            <a:ext cx="2761488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67706B"/>
                </a:solidFill>
                <a:latin typeface="PingFang SC"/>
              </a:defRPr>
            </a:pPr>
            <a:r>
              <a:t>•  真实业务评测闭环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67706B"/>
                </a:solidFill>
                <a:latin typeface="PingFang SC"/>
              </a:defRPr>
            </a:pPr>
            <a:r>
              <a:t>•  工作台交互经验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67706B"/>
                </a:solidFill>
                <a:latin typeface="PingFang SC"/>
              </a:defRPr>
            </a:pPr>
            <a:r>
              <a:t>•  AgentTeams 协作范式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9704" y="1865376"/>
            <a:ext cx="3401568" cy="356616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64024" y="2130552"/>
            <a:ext cx="457200" cy="329184"/>
          </a:xfrm>
          <a:prstGeom prst="rect">
            <a:avLst/>
          </a:prstGeom>
          <a:solidFill>
            <a:srgbClr val="E7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213055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17745A"/>
                </a:solidFill>
                <a:latin typeface="PingFang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2706624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21617"/>
                </a:solidFill>
                <a:latin typeface="PingFang SC"/>
              </a:rPr>
              <a:t>AgentRig 开源内核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3346704"/>
            <a:ext cx="2761488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67706B"/>
                </a:solidFill>
                <a:latin typeface="PingFang SC"/>
              </a:defRPr>
            </a:pPr>
            <a:r>
              <a:t>•  协议无关 Driver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67706B"/>
                </a:solidFill>
                <a:latin typeface="PingFang SC"/>
              </a:defRPr>
            </a:pPr>
            <a:r>
              <a:t>•  低副作用 Provider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67706B"/>
                </a:solidFill>
                <a:latin typeface="PingFang SC"/>
              </a:defRPr>
            </a:pPr>
            <a:r>
              <a:t>•  Canonical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6175" y="1865376"/>
            <a:ext cx="3401568" cy="3566160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40496" y="2130552"/>
            <a:ext cx="457200" cy="329184"/>
          </a:xfrm>
          <a:prstGeom prst="rect">
            <a:avLst/>
          </a:prstGeom>
          <a:solidFill>
            <a:srgbClr val="F8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213055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40" b="1">
                <a:solidFill>
                  <a:srgbClr val="A76509"/>
                </a:solidFill>
                <a:latin typeface="PingFang S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2706624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121617"/>
                </a:solidFill>
                <a:latin typeface="PingFang SC"/>
              </a:rPr>
              <a:t>生态消费方式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6" y="3346704"/>
            <a:ext cx="2761488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67706B"/>
                </a:solidFill>
                <a:latin typeface="PingFang SC"/>
              </a:defRPr>
            </a:pPr>
            <a:r>
              <a:t>•  Codex + 项目 Skill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67706B"/>
                </a:solidFill>
                <a:latin typeface="PingFang SC"/>
              </a:defRPr>
            </a:pPr>
            <a:r>
              <a:t>•  普通用户 Web Assistant</a:t>
            </a:r>
          </a:p>
          <a:p>
            <a:pPr>
              <a:lnSpc>
                <a:spcPct val="115000"/>
              </a:lnSpc>
              <a:spcAft>
                <a:spcPts val="1000"/>
              </a:spcAft>
              <a:defRPr sz="1100">
                <a:solidFill>
                  <a:srgbClr val="67706B"/>
                </a:solidFill>
                <a:latin typeface="PingFang SC"/>
              </a:defRPr>
            </a:pPr>
            <a:r>
              <a:t>•  CI / 发布 Gate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733288"/>
            <a:ext cx="9902952" cy="475488"/>
          </a:xfrm>
          <a:prstGeom prst="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861304"/>
            <a:ext cx="9464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PingFang SC"/>
              </a:rPr>
              <a:t>公开 EditFlow 证明可复现　｜　真实 lassist 兼容验证证明不是只适配 Demo 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>
                <a:solidFill>
                  <a:srgbClr val="285CF5"/>
                </a:solidFill>
                <a:latin typeface="PingFang SC"/>
              </a:rPr>
              <a:t>证据台账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922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121617"/>
                </a:solidFill>
                <a:latin typeface="PingFang SC"/>
              </a:rPr>
              <a:t>正式录制已闭环；台账中的每个 Run、Sample 与事件均来自干净录制库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61288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19" b="0">
                <a:solidFill>
                  <a:srgbClr val="67706B"/>
                </a:solidFill>
                <a:latin typeface="PingFang SC"/>
              </a:rPr>
              <a:t>已证明的事实与尚未证明的边界必须同时出现在结论里。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33832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929A95"/>
                </a:solidFill>
                <a:latin typeface="Helvetica Neue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27048"/>
            <a:ext cx="10881360" cy="10972"/>
          </a:xfrm>
          <a:prstGeom prst="rect">
            <a:avLst/>
          </a:prstGeom>
          <a:solidFill>
            <a:srgbClr val="D8D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556248"/>
            <a:ext cx="3200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PingFang SC"/>
              </a:rPr>
              <a:t>AgentRig · GOAI 2026 ·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56248"/>
            <a:ext cx="8778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929A95"/>
                </a:solidFill>
                <a:latin typeface="Helvetica Neue"/>
              </a:rPr>
              <a:t>16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47088"/>
            <a:ext cx="3364992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67706B"/>
                </a:solidFill>
                <a:latin typeface="PingFang SC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3" y="19659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C84438"/>
                </a:solidFill>
                <a:latin typeface="Helvetica Neue"/>
              </a:rPr>
              <a:t>2 /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00253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0" b="0">
                <a:solidFill>
                  <a:srgbClr val="67706B"/>
                </a:solidFill>
                <a:latin typeface="PingFang SC"/>
              </a:rPr>
              <a:t>3 次行为失败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1847088"/>
            <a:ext cx="3364992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99339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67706B"/>
                </a:solidFill>
                <a:latin typeface="PingFang SC"/>
              </a:rPr>
              <a:t>Headline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1576" y="19659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7745A"/>
                </a:solidFill>
                <a:latin typeface="Helvetica Neue"/>
              </a:rPr>
              <a:t>5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00253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0" b="0">
                <a:solidFill>
                  <a:srgbClr val="67706B"/>
                </a:solidFill>
                <a:latin typeface="PingFang SC"/>
              </a:rPr>
              <a:t>同 Case + Manifest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847088"/>
            <a:ext cx="3364992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99339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67706B"/>
                </a:solidFill>
                <a:latin typeface="PingFang SC"/>
              </a:rPr>
              <a:t>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6608" y="196596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7745A"/>
                </a:solidFill>
                <a:latin typeface="Helvetica Neue"/>
              </a:rPr>
              <a:t>30 /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23576" y="200253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0" b="0">
                <a:solidFill>
                  <a:srgbClr val="67706B"/>
                </a:solidFill>
                <a:latin typeface="PingFang SC"/>
              </a:rPr>
              <a:t>6 Cells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2898648"/>
            <a:ext cx="3364992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04495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67706B"/>
                </a:solidFill>
                <a:latin typeface="PingFang SC"/>
              </a:rPr>
              <a:t>Sample replay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66543" y="30175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7745A"/>
                </a:solidFill>
                <a:latin typeface="Helvetica Neue"/>
              </a:rPr>
              <a:t>5 /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3512" y="305409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0" b="0">
                <a:solidFill>
                  <a:srgbClr val="67706B"/>
                </a:solidFill>
                <a:latin typeface="PingFang SC"/>
              </a:rPr>
              <a:t>0 real_tool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2898648"/>
            <a:ext cx="3364992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04495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67706B"/>
                </a:solidFill>
                <a:latin typeface="PingFang SC"/>
              </a:rPr>
              <a:t>Web Assistant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51576" y="30175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7745A"/>
                </a:solidFill>
                <a:latin typeface="Helvetica Neue"/>
              </a:rPr>
              <a:t>3 /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544" y="305409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0" b="0">
                <a:solidFill>
                  <a:srgbClr val="67706B"/>
                </a:solidFill>
                <a:latin typeface="PingFang SC"/>
              </a:rPr>
              <a:t>确认与提交分离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2898648"/>
            <a:ext cx="3364992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D8D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044952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67706B"/>
                </a:solidFill>
                <a:latin typeface="PingFang SC"/>
              </a:rPr>
              <a:t>EditFlow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6608" y="30175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285CF5"/>
                </a:solidFill>
                <a:latin typeface="Helvetica Neue"/>
              </a:rPr>
              <a:t>34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23576" y="305409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0" b="0">
                <a:solidFill>
                  <a:srgbClr val="67706B"/>
                </a:solidFill>
                <a:latin typeface="PingFang SC"/>
              </a:rPr>
              <a:t>non-live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4315968"/>
            <a:ext cx="10725912" cy="932688"/>
          </a:xfrm>
          <a:prstGeom prst="rect">
            <a:avLst/>
          </a:prstGeom>
          <a:solidFill>
            <a:srgbClr val="F8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4553712"/>
            <a:ext cx="1078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A76509"/>
                </a:solidFill>
                <a:latin typeface="PingFang SC"/>
              </a:rPr>
              <a:t>诚实边界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4489704"/>
            <a:ext cx="8686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1">
                <a:solidFill>
                  <a:srgbClr val="2B312F"/>
                </a:solidFill>
                <a:latin typeface="PingFang SC"/>
              </a:rPr>
              <a:t>Sample 仅覆盖 inspect_image；动态引用等值以 Timeline 展示；正式录制必须生成新 ID；
AgentTeams 外部 Live、目标容量与生产 SLO 不冒充本次 EditFlow 结论。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89888" y="5532120"/>
            <a:ext cx="9418320" cy="640080"/>
          </a:xfrm>
          <a:prstGeom prst="rect">
            <a:avLst/>
          </a:prstGeom>
          <a:solidFill>
            <a:srgbClr val="171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5715000"/>
            <a:ext cx="8942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PingFang SC"/>
              </a:rPr>
              <a:t>Codex 负责思考和改变软件；AgentRig 负责让每次改变可复用、可执行、可追溯。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