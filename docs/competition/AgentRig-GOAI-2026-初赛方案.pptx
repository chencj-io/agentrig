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603504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32520" y="60350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9B0AC"/>
                </a:solidFill>
                <a:latin typeface="PingFang SC"/>
              </a:rPr>
              <a:t>GOAI 2026  · 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3500" b="1">
                <a:solidFill>
                  <a:srgbClr val="FFFFFF"/>
                </a:solidFill>
                <a:latin typeface="PingFang SC"/>
              </a:rPr>
              <a:t>让企业 Agent 的
每次变化都有证据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212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C8CDCA"/>
                </a:solidFill>
                <a:latin typeface="PingFang SC"/>
              </a:rPr>
              <a:t>多 Agent 可审计评测基础设施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49039"/>
            <a:ext cx="5166360" cy="10160"/>
          </a:xfrm>
          <a:prstGeom prst="rect">
            <a:avLst/>
          </a:prstGeom>
          <a:solidFill>
            <a:srgbClr val="37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5303520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9FA7A2"/>
                </a:solidFill>
                <a:latin typeface="PingFang SC"/>
              </a:rPr>
              <a:t>AgentTeams 负责协作。
AgentRig 负责事实、验证与审计。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3951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83096" y="1216152"/>
            <a:ext cx="5093207" cy="2931247"/>
          </a:xfrm>
          <a:prstGeom prst="rect">
            <a:avLst/>
          </a:prstGeom>
          <a:solidFill>
            <a:srgbClr val="FFFFFF"/>
          </a:solidFill>
          <a:ln w="8890">
            <a:solidFill>
              <a:srgbClr val="D9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5-success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225296"/>
            <a:ext cx="5074920" cy="291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92240" y="426110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9B0AC"/>
                </a:solidFill>
                <a:latin typeface="PingFang SC"/>
              </a:rPr>
              <a:t>真实 lassist/Pixcake Agent  ·  三角色协作  ·  成功与策略回归证据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4800600"/>
            <a:ext cx="5074920" cy="10160"/>
          </a:xfrm>
          <a:prstGeom prst="rect">
            <a:avLst/>
          </a:prstGeom>
          <a:solidFill>
            <a:srgbClr val="37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5056632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>
                <a:solidFill>
                  <a:srgbClr val="777F7A"/>
                </a:solidFill>
                <a:latin typeface="PingFang SC"/>
              </a:rPr>
              <a:t>2026.08  /  v0.2.0a0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727A76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727A76"/>
                </a:solidFill>
                <a:latin typeface="Helvetica Neue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问题定义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Agent 的风险，不止是回答错一次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真正困难的是：事后能否复原它为什么这样做。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02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5212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141719"/>
                </a:solidFill>
                <a:latin typeface="PingFang SC"/>
              </a:rPr>
              <a:t>输出可以看见，
过程往往不可见。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46704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68716C"/>
                </a:solidFill>
                <a:latin typeface="PingFang SC"/>
              </a:rPr>
              <a:t>没有冻结上下文、执行事件和独立裁决，
一次“通过”既无法解释，也无法复现。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754880"/>
            <a:ext cx="5138928" cy="859536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983480"/>
            <a:ext cx="46451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ingFang SC"/>
              </a:rPr>
              <a:t>目标：把聊天质量问题，变成可持续验证的工程问题。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901952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31152" y="1865376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874519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8716C"/>
                </a:solidFill>
                <a:latin typeface="PingFang SC"/>
              </a:rPr>
              <a:t>随机结果让字符串快照失去解释力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532888"/>
            <a:ext cx="4937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834640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2798064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工具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07208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8716C"/>
                </a:solidFill>
                <a:latin typeface="PingFang SC"/>
              </a:rPr>
              <a:t>真实调用有成本和副作用；纯 mock 又不可信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3465576"/>
            <a:ext cx="4937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767328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730752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裁决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39896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8716C"/>
                </a:solidFill>
                <a:latin typeface="PingFang SC"/>
              </a:rPr>
              <a:t>Judge 可能看见答案、接受伪证据或自说自话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398264"/>
            <a:ext cx="4937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700016"/>
            <a:ext cx="3840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4663440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状态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82127" y="4672583"/>
            <a:ext cx="34290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8716C"/>
                </a:solidFill>
                <a:latin typeface="PingFang SC"/>
              </a:rPr>
              <a:t>版本、审批、多轮上下文与恢复共同决定行为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5330952"/>
            <a:ext cx="4937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用户路径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从一句目标，到一条可审计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把平台对象藏在自然语言之后，把关键边界留给用户确认。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" y="2340864"/>
            <a:ext cx="10195560" cy="15240"/>
          </a:xfrm>
          <a:prstGeom prst="rect">
            <a:avLst/>
          </a:prstGeom>
          <a:solidFill>
            <a:srgbClr val="BF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4207" y="2139696"/>
            <a:ext cx="420624" cy="420624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4207" y="213969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" y="28803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141719"/>
                </a:solidFill>
                <a:latin typeface="PingFang SC"/>
              </a:rPr>
              <a:t>计划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1" y="3429000"/>
            <a:ext cx="296265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8716C"/>
                </a:solidFill>
                <a:latin typeface="PingFang SC"/>
              </a:rPr>
              <a:t>描述目标 → 查询资产
生成可预览、可修订的计划</a:t>
            </a:r>
          </a:p>
        </p:txBody>
      </p:sp>
      <p:sp>
        <p:nvSpPr>
          <p:cNvPr id="14" name="Oval 13"/>
          <p:cNvSpPr/>
          <p:nvPr/>
        </p:nvSpPr>
        <p:spPr>
          <a:xfrm>
            <a:off x="5870448" y="2139696"/>
            <a:ext cx="420624" cy="420624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213969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8803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141719"/>
                </a:solidFill>
                <a:latin typeface="PingFang SC"/>
              </a:rPr>
              <a:t>确认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3429000"/>
            <a:ext cx="296265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8716C"/>
                </a:solidFill>
                <a:latin typeface="PingFang SC"/>
              </a:rPr>
              <a:t>绑定真实 user event
与同一 plan revision</a:t>
            </a:r>
          </a:p>
        </p:txBody>
      </p:sp>
      <p:sp>
        <p:nvSpPr>
          <p:cNvPr id="18" name="Oval 17"/>
          <p:cNvSpPr/>
          <p:nvPr/>
        </p:nvSpPr>
        <p:spPr>
          <a:xfrm>
            <a:off x="9985248" y="2139696"/>
            <a:ext cx="420624" cy="420624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85248" y="2139696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288036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141719"/>
                </a:solidFill>
                <a:latin typeface="PingFang SC"/>
              </a:rPr>
              <a:t>证明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4232" y="3429000"/>
            <a:ext cx="296265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1150" b="0">
                <a:solidFill>
                  <a:srgbClr val="68716C"/>
                </a:solidFill>
                <a:latin typeface="PingFang SC"/>
              </a:rPr>
              <a:t>执行 → Rule / Judge
保存证据并解释结果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919472"/>
            <a:ext cx="4279392" cy="713232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59352" y="4928616"/>
            <a:ext cx="4279392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PingFang SC"/>
              </a:rPr>
              <a:t>没有确认，不产生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5870448"/>
            <a:ext cx="4343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计划是领域对象，不是提示词里的建议。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角色设计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三种职责，三条不可越过的边界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分工不是为了凑 Agent 数量，而是隔离知识、权限和裁决。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04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47088"/>
            <a:ext cx="3977639" cy="4078224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4884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EA6A1"/>
                </a:solidFill>
                <a:latin typeface="PingFang SC"/>
              </a:rPr>
              <a:t>01  / 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651760"/>
            <a:ext cx="315468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PingFang SC"/>
              </a:rPr>
              <a:t>把目标变成
可确认的计划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3886200"/>
            <a:ext cx="32369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C8CDCA"/>
                </a:solidFill>
                <a:latin typeface="PingFang SC"/>
              </a:rPr>
              <a:t>目标理解 · 资产选择 · 计划 · 诊断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" y="4443984"/>
            <a:ext cx="3383280" cy="10160"/>
          </a:xfrm>
          <a:prstGeom prst="rect">
            <a:avLst/>
          </a:prstGeom>
          <a:solidFill>
            <a:srgbClr val="3A3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4718304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50749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不能直接调用原始 run_cases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1847088"/>
            <a:ext cx="6327648" cy="1828800"/>
          </a:xfrm>
          <a:prstGeom prst="rect">
            <a:avLst/>
          </a:prstGeom>
          <a:solidFill>
            <a:srgbClr val="FFFFFF"/>
          </a:solidFill>
          <a:ln w="8890">
            <a:solidFill>
              <a:srgbClr val="D9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93792" y="1847088"/>
            <a:ext cx="73152" cy="1828800"/>
          </a:xfrm>
          <a:prstGeom prst="rect">
            <a:avLst/>
          </a:prstGeom>
          <a:solidFill>
            <a:srgbClr val="2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04688" y="2075688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0785A"/>
                </a:solidFill>
                <a:latin typeface="PingFang SC"/>
              </a:rPr>
              <a:t>02  /  Simulation Curator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246888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41719"/>
                </a:solidFill>
                <a:latin typeface="PingFang SC"/>
              </a:rPr>
              <a:t>生成合理、Schema 合法的工具结果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3081528"/>
            <a:ext cx="5394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边界  ·  看不到 rubric 与预期答案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93792" y="3950208"/>
            <a:ext cx="6327648" cy="1828800"/>
          </a:xfrm>
          <a:prstGeom prst="rect">
            <a:avLst/>
          </a:prstGeom>
          <a:solidFill>
            <a:srgbClr val="FFFFFF"/>
          </a:solidFill>
          <a:ln w="8890">
            <a:solidFill>
              <a:srgbClr val="D9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93792" y="3950208"/>
            <a:ext cx="73152" cy="1828800"/>
          </a:xfrm>
          <a:prstGeom prst="rect">
            <a:avLst/>
          </a:prstGeom>
          <a:solidFill>
            <a:srgbClr val="A86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04688" y="4178808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A86608"/>
                </a:solidFill>
                <a:latin typeface="PingFang SC"/>
              </a:rPr>
              <a:t>03  /  Evidence Judge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457200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41719"/>
                </a:solidFill>
                <a:latin typeface="PingFang SC"/>
              </a:rPr>
              <a:t>基于冻结证据独立裁决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5184648"/>
            <a:ext cx="5394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边界  ·  不能改执行，也不能造证据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6044184"/>
            <a:ext cx="6263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C34A3C"/>
                </a:solidFill>
                <a:latin typeface="PingFang SC"/>
              </a:rPr>
              <a:t>隔离的结果：不越权、不泄漏目标、不让执行者自评。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协作接入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AgentTeams 不是 PPT 依赖，而是运行时事实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身份、生命周期、工作区、MCP 路由与双向事件都可以现场核验。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05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938528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141719"/>
                </a:solidFill>
                <a:latin typeface="PingFang SC"/>
              </a:rPr>
              <a:t>协作框架拥有协作；
AgentRig 只接收可审计事件。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1272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身份与生命周期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3127248"/>
            <a:ext cx="2029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9" b="0">
                <a:solidFill>
                  <a:srgbClr val="68716C"/>
                </a:solidFill>
                <a:latin typeface="PingFang SC"/>
              </a:rPr>
              <a:t>AgentTeams v1.1.2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483864"/>
            <a:ext cx="353872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657600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任务与回执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3657600"/>
            <a:ext cx="2029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9" b="0">
                <a:solidFill>
                  <a:srgbClr val="68716C"/>
                </a:solidFill>
                <a:latin typeface="PingFang SC"/>
              </a:rPr>
              <a:t>Matrix request / response event 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14215"/>
            <a:ext cx="353872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18795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角色工作区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4187952"/>
            <a:ext cx="2029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9" b="0">
                <a:solidFill>
                  <a:srgbClr val="68716C"/>
                </a:solidFill>
                <a:latin typeface="PingFang SC"/>
              </a:rPr>
              <a:t>MinIO versioned roles +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4544568"/>
            <a:ext cx="353872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718304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最小权限工具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4718304"/>
            <a:ext cx="2029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9" b="0">
                <a:solidFill>
                  <a:srgbClr val="68716C"/>
                </a:solidFill>
                <a:latin typeface="PingFang SC"/>
              </a:rPr>
              <a:t>Higress isolated MCP routes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5074920"/>
            <a:ext cx="353872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468112"/>
            <a:ext cx="3529584" cy="548640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477256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Core 不依赖 AgentTeams 类型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08576" y="1819656"/>
            <a:ext cx="6922007" cy="3980960"/>
          </a:xfrm>
          <a:prstGeom prst="rect">
            <a:avLst/>
          </a:prstGeom>
          <a:solidFill>
            <a:srgbClr val="FFFFFF"/>
          </a:solidFill>
          <a:ln w="8890">
            <a:solidFill>
              <a:srgbClr val="D9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03-agentteams-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828800"/>
            <a:ext cx="6903720" cy="3962673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8119872" y="2249424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9872" y="2249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28" name="Oval 27"/>
          <p:cNvSpPr/>
          <p:nvPr/>
        </p:nvSpPr>
        <p:spPr>
          <a:xfrm>
            <a:off x="10771632" y="4370832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71632" y="43708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5916168"/>
            <a:ext cx="6903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9" b="0">
                <a:solidFill>
                  <a:srgbClr val="68716C"/>
                </a:solidFill>
                <a:latin typeface="PingFang SC"/>
              </a:rPr>
              <a:t>1  三个真实角色    2  Worker 调用、输入/结果 hash 与事件回执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两条责任链，一份权威事实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AgentTeams 管“谁在协作”；AgentRig Core 管“究竟发生了什么”。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06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865376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20785A"/>
                </a:solidFill>
                <a:latin typeface="PingFang SC"/>
              </a:rPr>
              <a:t>协作层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76272"/>
            <a:ext cx="10881360" cy="1097280"/>
          </a:xfrm>
          <a:prstGeom prst="rect">
            <a:avLst/>
          </a:prstGeom>
          <a:solidFill>
            <a:srgbClr val="E8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Web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551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0785A"/>
                </a:solidFill>
                <a:latin typeface="PingFang SC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5603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551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0785A"/>
                </a:solidFill>
                <a:latin typeface="PingFang SC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7296" y="25603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Matrix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8975" y="2551176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20785A"/>
                </a:solidFill>
                <a:latin typeface="PingFang SC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560320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41719"/>
                </a:solidFill>
                <a:latin typeface="PingFang SC"/>
              </a:rPr>
              <a:t>Curator /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93008"/>
            <a:ext cx="10881360" cy="22860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90288" y="3346704"/>
            <a:ext cx="2999232" cy="320040"/>
          </a:xfrm>
          <a:prstGeom prst="rect">
            <a:avLst/>
          </a:prstGeom>
          <a:solidFill>
            <a:srgbClr val="F7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0288" y="3401568"/>
            <a:ext cx="299923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80" b="1">
                <a:solidFill>
                  <a:srgbClr val="315CF5"/>
                </a:solidFill>
                <a:latin typeface="PingFang SC"/>
              </a:rPr>
              <a:t>Adapter boundary  ·  event / hash / 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3803904"/>
            <a:ext cx="822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315CF5"/>
                </a:solidFill>
                <a:latin typeface="PingFang SC"/>
              </a:rPr>
              <a:t>事实层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4096512"/>
            <a:ext cx="10881360" cy="1627632"/>
          </a:xfrm>
          <a:prstGeom prst="rect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PingFang SC"/>
              </a:rPr>
              <a:t>EvaluationPlan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919472"/>
            <a:ext cx="18470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68716C"/>
                </a:solidFill>
                <a:latin typeface="PingFang SC"/>
              </a:rPr>
              <a:t>确认与 revision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44952" y="4590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315CF5"/>
                </a:solidFill>
                <a:latin typeface="PingFang S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4489704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PingFang SC"/>
              </a:rPr>
              <a:t>AgentRig 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4919472"/>
            <a:ext cx="18470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68716C"/>
                </a:solidFill>
                <a:latin typeface="PingFang SC"/>
              </a:rPr>
              <a:t>运行状态机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1031" y="4590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315CF5"/>
                </a:solidFill>
                <a:latin typeface="PingFang SC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4489704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PingFang SC"/>
              </a:rPr>
              <a:t>Target / Driver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80" y="4919472"/>
            <a:ext cx="18470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68716C"/>
                </a:solidFill>
                <a:latin typeface="PingFang SC"/>
              </a:rPr>
              <a:t>真实被测对象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97112" y="4590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315CF5"/>
                </a:solidFill>
                <a:latin typeface="PingFang SC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4489704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PingFang SC"/>
              </a:rPr>
              <a:t>Evidence 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4919472"/>
            <a:ext cx="184708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0">
                <a:solidFill>
                  <a:srgbClr val="68716C"/>
                </a:solidFill>
                <a:latin typeface="PingFang SC"/>
              </a:rPr>
              <a:t>Event / Eval / Hash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6007608"/>
            <a:ext cx="10808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41719"/>
                </a:solidFill>
                <a:latin typeface="PingFang SC"/>
              </a:rPr>
              <a:t>任何 Agent 都不能用聊天文本改写 RunEvent。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Skill 与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可复用能力，不是一次性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11 个版本化 Skill；三套最小权限 MCP 工具集。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07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847088"/>
            <a:ext cx="14173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100" b="1">
                <a:solidFill>
                  <a:srgbClr val="315CF5"/>
                </a:solidFill>
                <a:latin typeface="Helvetica Neue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0048"/>
            <a:ext cx="1280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68716C"/>
                </a:solidFill>
                <a:latin typeface="Helvetica Neue"/>
              </a:rPr>
              <a:t>versioned
skills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48256" y="1847088"/>
            <a:ext cx="10160" cy="301752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95728" y="1901952"/>
            <a:ext cx="3246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41719"/>
                </a:solidFill>
                <a:latin typeface="PingFang SC"/>
              </a:rPr>
              <a:t>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190195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315CF5"/>
                </a:solidFill>
                <a:latin typeface="Helvetica Neue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5728" y="2322576"/>
            <a:ext cx="3794760" cy="17780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95728" y="2587751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578608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adaptive-evaluation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95728" y="2862072"/>
            <a:ext cx="3794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95728" y="2980944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971800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plan-evaluation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95728" y="3255264"/>
            <a:ext cx="3794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95728" y="3374135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364991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execute-evaluation-plan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95728" y="3648456"/>
            <a:ext cx="3794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95728" y="3767327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3758183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diagnose-run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5728" y="4041647"/>
            <a:ext cx="3794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4160520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88920" y="4151376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build-test-case-draft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95728" y="4434840"/>
            <a:ext cx="3794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95728" y="4553712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4544568"/>
            <a:ext cx="3392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configure-test-target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95728" y="4828031"/>
            <a:ext cx="37947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1901952"/>
            <a:ext cx="1444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41719"/>
                </a:solidFill>
                <a:latin typeface="PingFang SC"/>
              </a:rPr>
              <a:t>Workers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64424" y="190195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0785A"/>
                </a:solidFill>
                <a:latin typeface="Helvetica Neue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2322576"/>
            <a:ext cx="1993392" cy="17780"/>
          </a:xfrm>
          <a:prstGeom prst="rect">
            <a:avLst/>
          </a:prstGeom>
          <a:solidFill>
            <a:srgbClr val="2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2587751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9712" y="2578608"/>
            <a:ext cx="15910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simulate-tool-result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2862072"/>
            <a:ext cx="19933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2980944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2971800"/>
            <a:ext cx="159105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judge-evidence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46520" y="3255264"/>
            <a:ext cx="19933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32520" y="1901952"/>
            <a:ext cx="2029967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41719"/>
                </a:solidFill>
                <a:latin typeface="PingFang SC"/>
              </a:rPr>
              <a:t>Core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35640" y="1901952"/>
            <a:ext cx="411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A86608"/>
                </a:solidFill>
                <a:latin typeface="Helvetica Neue"/>
              </a:rPr>
              <a:t>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32520" y="2322576"/>
            <a:ext cx="2578608" cy="17780"/>
          </a:xfrm>
          <a:prstGeom prst="rect">
            <a:avLst/>
          </a:prstGeom>
          <a:solidFill>
            <a:srgbClr val="A86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32520" y="2587751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5712" y="2578608"/>
            <a:ext cx="21762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run-test-cases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732520" y="2862072"/>
            <a:ext cx="257860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32520" y="2980944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25712" y="2971800"/>
            <a:ext cx="21762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build-test-case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32520" y="3255264"/>
            <a:ext cx="257860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3374135"/>
            <a:ext cx="310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25712" y="3364991"/>
            <a:ext cx="21762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0" b="1">
                <a:solidFill>
                  <a:srgbClr val="2D3330"/>
                </a:solidFill>
                <a:latin typeface="Menlo"/>
              </a:rPr>
              <a:t>harvest-tool-samples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32520" y="3648456"/>
            <a:ext cx="257860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94944" y="5358384"/>
            <a:ext cx="10808208" cy="749808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554126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每个核心 Skill 都有工程合同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46120" y="5541264"/>
            <a:ext cx="7936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>
                <a:solidFill>
                  <a:srgbClr val="C8CDCA"/>
                </a:solidFill>
                <a:latin typeface="PingFang SC"/>
              </a:rPr>
              <a:t>输入输出  ·  调用条件  ·  依赖  ·  失败  ·  安全  ·  验证复用  ·  版本回滚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可信评测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结论必须回到证据，而不是相信 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确定性约束与语义判断独立保存，任何未知 evidence_ref 都会被拒绝。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08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83664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1847088"/>
            <a:ext cx="2029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PingFang SC"/>
              </a:rPr>
              <a:t>冻结事实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2304288"/>
            <a:ext cx="2450592" cy="15240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1" y="1883664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2816" y="1847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PingFang SC"/>
              </a:rPr>
              <a:t>独立评测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22191" y="2304288"/>
            <a:ext cx="2798064" cy="1524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1883664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54112" y="1847088"/>
            <a:ext cx="371246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PingFang SC"/>
              </a:rPr>
              <a:t>证据报告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304288"/>
            <a:ext cx="4133087" cy="1524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651760"/>
            <a:ext cx="2505456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100" b="0">
                <a:solidFill>
                  <a:srgbClr val="2D3330"/>
                </a:solidFill>
                <a:latin typeface="PingFang SC"/>
              </a:defRPr>
            </a:pPr>
            <a:r>
              <a:t>•  Case / Target / Profile 快照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100" b="0">
                <a:solidFill>
                  <a:srgbClr val="2D3330"/>
                </a:solidFill>
                <a:latin typeface="PingFang SC"/>
              </a:defRPr>
            </a:pPr>
            <a:r>
              <a:t>•  RunEvent / tool call / result</a:t>
            </a:r>
          </a:p>
          <a:p>
            <a:pPr>
              <a:lnSpc>
                <a:spcPct val="115000"/>
              </a:lnSpc>
              <a:spcAft>
                <a:spcPts val="1200"/>
              </a:spcAft>
              <a:defRPr sz="1100" b="0">
                <a:solidFill>
                  <a:srgbClr val="2D3330"/>
                </a:solidFill>
                <a:latin typeface="PingFang SC"/>
              </a:defRPr>
            </a:pPr>
            <a:r>
              <a:t>•  Curator 看不到 rubric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22191" y="2633472"/>
            <a:ext cx="2798064" cy="841248"/>
          </a:xfrm>
          <a:prstGeom prst="rect">
            <a:avLst/>
          </a:prstGeom>
          <a:solidFill>
            <a:srgbClr val="F7E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1648" y="2816352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41719"/>
                </a:solidFill>
                <a:latin typeface="PingFang SC"/>
              </a:rPr>
              <a:t>Rule Evaluator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3118104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68716C"/>
                </a:solidFill>
                <a:latin typeface="PingFang SC"/>
              </a:rPr>
              <a:t>结构化断言 · 结果独立存档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22191" y="3703320"/>
            <a:ext cx="2798064" cy="841248"/>
          </a:xfrm>
          <a:prstGeom prst="rect">
            <a:avLst/>
          </a:prstGeom>
          <a:solidFill>
            <a:srgbClr val="E8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41648" y="3886200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41719"/>
                </a:solidFill>
                <a:latin typeface="PingFang SC"/>
              </a:rPr>
              <a:t>Evidence Judge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4187952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68716C"/>
                </a:solidFill>
                <a:latin typeface="PingFang SC"/>
              </a:rPr>
              <a:t>仅引用本次 Run 的 event 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84848" y="3355848"/>
            <a:ext cx="3291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315CF5"/>
                </a:solidFill>
                <a:latin typeface="PingFang SC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2633472"/>
            <a:ext cx="4133087" cy="1920240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5240" y="2907792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Helvetica Neue"/>
              </a:rPr>
              <a:t>PASS  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C8CDCA"/>
                </a:solidFill>
                <a:latin typeface="PingFang SC"/>
              </a:rPr>
              <a:t>Rule 与 Judge 的结果互不覆盖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941063"/>
            <a:ext cx="35112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9FA7A2"/>
                </a:solidFill>
                <a:latin typeface="PingFang SC"/>
              </a:rPr>
              <a:t>每个 verdict 都能追到 event / hash / evaluator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038344"/>
            <a:ext cx="10753344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358384"/>
            <a:ext cx="107350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41719"/>
                </a:solidFill>
                <a:latin typeface="PingFang SC"/>
              </a:rPr>
              <a:t>输出进入事实库之前：Pydantic / JSON Schema / hash / evidence reference 全部校验。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安全与恢复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模型可以提议，只有确定性后端可以放行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审批、密钥、重试与失败终态都在 Prompt 之外执行。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09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0195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315CF5"/>
                </a:solidFill>
                <a:latin typeface="PingFang SC"/>
              </a:rPr>
              <a:t>计划状态机</a:t>
            </a:r>
          </a:p>
        </p:txBody>
      </p:sp>
      <p:sp>
        <p:nvSpPr>
          <p:cNvPr id="10" name="Oval 9"/>
          <p:cNvSpPr/>
          <p:nvPr/>
        </p:nvSpPr>
        <p:spPr>
          <a:xfrm>
            <a:off x="713232" y="2487168"/>
            <a:ext cx="384048" cy="384048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4871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871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41719"/>
                </a:solidFill>
                <a:latin typeface="Helvetica Neue"/>
              </a:rPr>
              <a:t>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16352"/>
            <a:ext cx="20116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生成 / 修订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62072" y="2670048"/>
            <a:ext cx="685800" cy="15240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46120" y="2487168"/>
            <a:ext cx="384048" cy="384048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4871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3048" y="24871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41719"/>
                </a:solidFill>
                <a:latin typeface="Helvetica Neue"/>
              </a:rPr>
              <a:t>CONFIRMED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3048" y="2816352"/>
            <a:ext cx="20116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user event + revision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2670048"/>
            <a:ext cx="685800" cy="15240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17920" y="2487168"/>
            <a:ext cx="384048" cy="384048"/>
          </a:xfrm>
          <a:prstGeom prst="ellipse">
            <a:avLst/>
          </a:prstGeom>
          <a:solidFill>
            <a:srgbClr val="2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48716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24871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141719"/>
                </a:solidFill>
                <a:latin typeface="Helvetica Neue"/>
              </a:rPr>
              <a:t>SUBMITTED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2816352"/>
            <a:ext cx="20116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幂等提交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87968" y="2157984"/>
            <a:ext cx="2596896" cy="1133856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2395728"/>
            <a:ext cx="2596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9FA7A2"/>
                </a:solidFill>
                <a:latin typeface="Helvetica Neue"/>
              </a:rPr>
              <a:t>NO CONFIRMATION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8" y="2706624"/>
            <a:ext cx="259689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Helvetica Neue"/>
              </a:rPr>
              <a:t>NO RUN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3749039"/>
            <a:ext cx="1077163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4169663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315CF5"/>
                </a:solidFill>
                <a:latin typeface="PingFang SC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480560"/>
            <a:ext cx="2487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Helvetica Neue"/>
              </a:rPr>
              <a:t>Secret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928616"/>
            <a:ext cx="24323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8716C"/>
                </a:solidFill>
                <a:latin typeface="PingFang SC"/>
              </a:rPr>
              <a:t>只存 env:/Secret 引用；不进 Matrix、日志和 Skill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4169663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315CF5"/>
                </a:solidFill>
                <a:latin typeface="PingFang SC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4480560"/>
            <a:ext cx="2487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Helvetica Neue"/>
              </a:rPr>
              <a:t>Redaction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6432" y="4928616"/>
            <a:ext cx="24323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8716C"/>
                </a:solidFill>
                <a:latin typeface="PingFang SC"/>
              </a:rPr>
              <a:t>模型与 Worker 输入统一脱敏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9632" y="4169663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315CF5"/>
                </a:solidFill>
                <a:latin typeface="PingFang SC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9632" y="4480560"/>
            <a:ext cx="2487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Helvetica Neue"/>
              </a:rPr>
              <a:t>Idempotency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9632" y="4928616"/>
            <a:ext cx="24323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8716C"/>
                </a:solidFill>
                <a:latin typeface="PingFang SC"/>
              </a:rPr>
              <a:t>重复提交复用幂等键，不重复执行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42832" y="4169663"/>
            <a:ext cx="31089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315CF5"/>
                </a:solidFill>
                <a:latin typeface="PingFang SC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42832" y="4480560"/>
            <a:ext cx="2487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41719"/>
                </a:solidFill>
                <a:latin typeface="Helvetica Neue"/>
              </a:rPr>
              <a:t>Terminal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42832" y="4928616"/>
            <a:ext cx="243230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8716C"/>
                </a:solidFill>
                <a:latin typeface="PingFang SC"/>
              </a:rPr>
              <a:t>超时、取消、失败均为显式可审计终态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5888736"/>
            <a:ext cx="10744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C34A3C"/>
                </a:solidFill>
                <a:latin typeface="PingFang SC"/>
              </a:rPr>
              <a:t>AgentTeams 故障不会破坏 Core 与既有证据。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真实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212140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41719"/>
                </a:solidFill>
                <a:latin typeface="PingFang SC"/>
              </a:rPr>
              <a:t>真实产品，
不是概念图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057400"/>
            <a:ext cx="204825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8716C"/>
                </a:solidFill>
                <a:latin typeface="PingFang SC"/>
              </a:rPr>
              <a:t>本机 lassist/Pixcake Agent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2743200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" y="2743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79776"/>
            <a:ext cx="1673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三角色状态与当前计划</a:t>
            </a:r>
          </a:p>
        </p:txBody>
      </p:sp>
      <p:sp>
        <p:nvSpPr>
          <p:cNvPr id="8" name="Oval 7"/>
          <p:cNvSpPr/>
          <p:nvPr/>
        </p:nvSpPr>
        <p:spPr>
          <a:xfrm>
            <a:off x="676656" y="3456432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3456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3493008"/>
            <a:ext cx="1673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成功 / 失败诊断</a:t>
            </a:r>
          </a:p>
        </p:txBody>
      </p:sp>
      <p:sp>
        <p:nvSpPr>
          <p:cNvPr id="11" name="Oval 10"/>
          <p:cNvSpPr/>
          <p:nvPr/>
        </p:nvSpPr>
        <p:spPr>
          <a:xfrm>
            <a:off x="676656" y="4169664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41696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4206240"/>
            <a:ext cx="16733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Run 与 Matrix 双向 event 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230368"/>
            <a:ext cx="201168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41719"/>
                </a:solidFill>
                <a:latin typeface="PingFang SC"/>
              </a:rPr>
              <a:t>成功闭环 + 策略回归
均保留可引用证据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62656" y="1042415"/>
            <a:ext cx="8659367" cy="4978190"/>
          </a:xfrm>
          <a:prstGeom prst="rect">
            <a:avLst/>
          </a:prstGeom>
          <a:solidFill>
            <a:srgbClr val="FFFFFF"/>
          </a:solidFill>
          <a:ln w="8890">
            <a:solidFill>
              <a:srgbClr val="D9DC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gentrig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051560"/>
            <a:ext cx="8641080" cy="4959902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10515600" y="2907792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29077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7077456" y="3291840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77456" y="329184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21" name="Oval 20"/>
          <p:cNvSpPr/>
          <p:nvPr/>
        </p:nvSpPr>
        <p:spPr>
          <a:xfrm>
            <a:off x="8275320" y="1408176"/>
            <a:ext cx="310896" cy="310896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4081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工程可信度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可运行、可替换、可复核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Core 在无模型、无 AgentTeams 时仍能完成确定性回归。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11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865376"/>
            <a:ext cx="27432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500" b="1">
                <a:solidFill>
                  <a:srgbClr val="315CF5"/>
                </a:solidFill>
                <a:latin typeface="Helvetica Neue"/>
              </a:rPr>
              <a:t>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98064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141719"/>
                </a:solidFill>
                <a:latin typeface="Helvetica Neue"/>
              </a:rPr>
              <a:t>backend tests passed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73552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Helvetica Neue"/>
              </a:rPr>
              <a:t>30 unit  ·  2 E2E  ·  0 secret hits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794760"/>
            <a:ext cx="324612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096512"/>
            <a:ext cx="32461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>
                <a:solidFill>
                  <a:srgbClr val="2D3330"/>
                </a:solidFill>
                <a:latin typeface="PingFang SC"/>
              </a:rPr>
              <a:t>Python 3.12  ·  FastAPI  ·  SQLAlchemy
React  ·  MCP  ·  MIT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38928"/>
            <a:ext cx="3273552" cy="594360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148072"/>
            <a:ext cx="3273552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本机一键运行与确定性验证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856231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315CF5"/>
                </a:solidFill>
                <a:latin typeface="Helvetica Neue"/>
              </a:rPr>
              <a:t>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847088"/>
            <a:ext cx="546811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2D3330"/>
                </a:solidFill>
                <a:latin typeface="PingFang SC"/>
              </a:rPr>
              <a:t>没有模型与 AgentTeams 也能执行回归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90288" y="2368296"/>
            <a:ext cx="67939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0288" y="2624327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315CF5"/>
                </a:solidFill>
                <a:latin typeface="Helvetica Neue"/>
              </a:rPr>
              <a:t>Drivers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2615184"/>
            <a:ext cx="546811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20" b="0">
                <a:solidFill>
                  <a:srgbClr val="2D3330"/>
                </a:solidFill>
                <a:latin typeface="PingFang SC"/>
              </a:rPr>
              <a:t>Pixcake / OpenAI-compatible / ACP / subprocess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90288" y="3136391"/>
            <a:ext cx="67939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0288" y="339242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315CF5"/>
                </a:solidFill>
                <a:latin typeface="Helvetica Neue"/>
              </a:rPr>
              <a:t>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383280"/>
            <a:ext cx="546811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20" b="0">
                <a:solidFill>
                  <a:srgbClr val="2D3330"/>
                </a:solidFill>
                <a:latin typeface="PingFang SC"/>
              </a:rPr>
              <a:t>SQLite 本机体验；Repository 契约可接 PostgreSQL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0288" y="3904487"/>
            <a:ext cx="67939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160520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315CF5"/>
                </a:solidFill>
                <a:latin typeface="Helvetica Neue"/>
              </a:rPr>
              <a:t>Extension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4151376"/>
            <a:ext cx="546811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20" b="0">
                <a:solidFill>
                  <a:srgbClr val="2D3330"/>
                </a:solidFill>
                <a:latin typeface="PingFang SC"/>
              </a:rPr>
              <a:t>Driver / Provider / Evaluator / Skill / Adapter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90288" y="4672583"/>
            <a:ext cx="67939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0288" y="4928616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315CF5"/>
                </a:solidFill>
                <a:latin typeface="Helvetica Neue"/>
              </a:rPr>
              <a:t>Delivery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4919472"/>
            <a:ext cx="546811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20" b="0">
                <a:solidFill>
                  <a:srgbClr val="2D3330"/>
                </a:solidFill>
                <a:latin typeface="PingFang SC"/>
              </a:rPr>
              <a:t>MIT · 部署文档 · Skills · 安全文档 · 自动测试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90288" y="5440679"/>
            <a:ext cx="67939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价值与路线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从“看起来能跑”，到“证据足够发布”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AgentRig 不替 Agent 做决定；它让每个决定都能回归、门禁与审计。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12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38528"/>
            <a:ext cx="10753344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141719"/>
                </a:solidFill>
                <a:latin typeface="Helvetica Neue"/>
              </a:rPr>
              <a:t>Evidence before confidence.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724912"/>
            <a:ext cx="107533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68716C"/>
                </a:solidFill>
                <a:latin typeface="PingFang SC"/>
              </a:rPr>
              <a:t>不同企业 Agent 共用的开源质量与发布基础设施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" y="3657600"/>
            <a:ext cx="10195560" cy="15240"/>
          </a:xfrm>
          <a:prstGeom prst="rect">
            <a:avLst/>
          </a:prstGeom>
          <a:solidFill>
            <a:srgbClr val="BFC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456432"/>
            <a:ext cx="393192" cy="393192"/>
          </a:xfrm>
          <a:prstGeom prst="ellipse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56432"/>
            <a:ext cx="3931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141719"/>
                </a:solidFill>
                <a:latin typeface="PingFang SC"/>
              </a:rPr>
              <a:t>现在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526280"/>
            <a:ext cx="2468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三 Agent 协作
成功 / 回归证据
开源工程包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0" y="3456432"/>
            <a:ext cx="393192" cy="393192"/>
          </a:xfrm>
          <a:prstGeom prst="ellipse">
            <a:avLst/>
          </a:prstGeom>
          <a:solidFill>
            <a:srgbClr val="2078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456432"/>
            <a:ext cx="3931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409651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141719"/>
                </a:solidFill>
                <a:latin typeface="PingFang SC"/>
              </a:rPr>
              <a:t>下一阶段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526280"/>
            <a:ext cx="2468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可执行 Trace 报告
恢复 / 性能指标
版本对比</a:t>
            </a:r>
          </a:p>
        </p:txBody>
      </p:sp>
      <p:sp>
        <p:nvSpPr>
          <p:cNvPr id="20" name="Oval 19"/>
          <p:cNvSpPr/>
          <p:nvPr/>
        </p:nvSpPr>
        <p:spPr>
          <a:xfrm>
            <a:off x="8183879" y="3456432"/>
            <a:ext cx="393192" cy="393192"/>
          </a:xfrm>
          <a:prstGeom prst="ellipse">
            <a:avLst/>
          </a:prstGeom>
          <a:solidFill>
            <a:srgbClr val="A866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3456432"/>
            <a:ext cx="39319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Helvetica Neue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409651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141719"/>
                </a:solidFill>
                <a:latin typeface="PingFang SC"/>
              </a:rPr>
              <a:t>规模化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59" y="4526280"/>
            <a:ext cx="2468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PostgreSQL / K8s
OTel / SLS
发布门禁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6432" y="5605272"/>
            <a:ext cx="5285232" cy="566928"/>
          </a:xfrm>
          <a:prstGeom prst="rect">
            <a:avLst/>
          </a:prstGeom>
          <a:solidFill>
            <a:srgbClr val="31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6432" y="5614416"/>
            <a:ext cx="5285232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PingFang SC"/>
              </a:rPr>
              <a:t>让每次变化，都留下可核验的证据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评审附录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三个 Agent 的身份合同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输入、输出、依赖、边界与追踪字段可与代码、MCP 路由和运行轨迹交叉核验。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13 /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773936"/>
            <a:ext cx="11128248" cy="530352"/>
          </a:xfrm>
          <a:prstGeom prst="rect">
            <a:avLst/>
          </a:prstGeom>
          <a:solidFill>
            <a:srgbClr val="1B1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47672"/>
            <a:ext cx="92354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A9B0AC"/>
                </a:solidFill>
                <a:latin typeface="PingFang SC"/>
              </a:rPr>
              <a:t>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947672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PingFang SC"/>
              </a:rPr>
              <a:t>Evaluation 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1947672"/>
            <a:ext cx="31181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PingFang SC"/>
              </a:rPr>
              <a:t>Simulation Curator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47672"/>
            <a:ext cx="309067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PingFang SC"/>
              </a:rPr>
              <a:t>Evidence Judge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304288"/>
            <a:ext cx="1112824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423160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角色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423160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面向用户的评测编排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423160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受控工具结果生成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23160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基于证据的独立裁决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2843784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962656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资产选择 / 计划 / 审批 / 诊断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962656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最小合理且 Schema 合法的候选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962656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pass / fail / inconclusive + 引用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" y="3383279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0352" y="3383279"/>
            <a:ext cx="1112824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502151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输入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502151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会话 / 目标 / 权威资产事实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502151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tool / args / schema / 脱敏历史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502151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冻结 rubric / Rule / 脱敏证据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3922776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041648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输出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041648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Plan / Decision / Run 引用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4041648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CuratorGeneration / 结构化失败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4041648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JudgeOutput / criteria / refs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" y="4462272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" y="4462272"/>
            <a:ext cx="1112824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581144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依赖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83080" y="4581144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6 Manager Skills / MCP / 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581144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simulate-tool-result / Worker MCP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4581144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judge-evidence / Worker MCP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30352" y="5001768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120640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决策边界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5120640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不能原始 run_cases；提交绑定 event + revision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0640" y="5120640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看不到 rubric；不调真实工具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5120640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不造证据；不足必须 inconclusive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0352" y="5541264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30352" y="5541264"/>
            <a:ext cx="11128248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660136"/>
            <a:ext cx="92354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>
                <a:solidFill>
                  <a:srgbClr val="315CF5"/>
                </a:solidFill>
                <a:latin typeface="PingFang SC"/>
              </a:rPr>
              <a:t>审计追踪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83080" y="5660136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AssistantEvent / Plan / Run / Matrix IDs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0" y="5660136"/>
            <a:ext cx="3118104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invocation / hash / event IDs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5660136"/>
            <a:ext cx="3090671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30" b="0">
                <a:solidFill>
                  <a:srgbClr val="2D3330"/>
                </a:solidFill>
                <a:latin typeface="PingFang SC"/>
              </a:rPr>
              <a:t>evaluation / hash / evidence refs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0352" y="6080759"/>
            <a:ext cx="111282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73352" y="1773936"/>
            <a:ext cx="10160" cy="4306823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10912" y="1773936"/>
            <a:ext cx="10160" cy="4306823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48472" y="1773936"/>
            <a:ext cx="10160" cy="4306823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6199632"/>
            <a:ext cx="111282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68716C"/>
                </a:solidFill>
                <a:latin typeface="PingFang SC"/>
              </a:rPr>
              <a:t>完整身份清单：docs/competition/02-Agent-Identity-清单.md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评审附录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11 个 Skill 如何被工程化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不是名称清单：每个核心 Skill 都定义调用、失败、安全、验证与版本边界。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14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8288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Helvetica Neue"/>
              </a:rPr>
              <a:t>Skill inventory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Helvetica Neue"/>
              </a:rPr>
              <a:t>Manager /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31720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adaptive-evaluation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42615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plan-evaluation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53512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execute-evaluation-plan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64408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diagnose-run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75304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build-test-case-draft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886200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configure-test-target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53128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0785A"/>
                </a:solidFill>
                <a:latin typeface="Helvetica Neue"/>
              </a:rPr>
              <a:t>Workers /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453128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simulate-tool-result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764024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judge-evidence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330952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A86608"/>
                </a:solidFill>
                <a:latin typeface="Helvetica Neue"/>
              </a:rPr>
              <a:t>Core /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5330952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run-test-cases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5641848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build-test-case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952744"/>
            <a:ext cx="2852928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70" b="1">
                <a:solidFill>
                  <a:srgbClr val="2D3330"/>
                </a:solidFill>
                <a:latin typeface="Menlo"/>
              </a:rPr>
              <a:t>harvest-tool-samples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80" y="1810512"/>
            <a:ext cx="10160" cy="438912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21808" y="18288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Helvetica Neue"/>
              </a:rPr>
              <a:t>Official contract fields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808" y="237744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24144" y="2359152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名称 / 类型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1808" y="2660904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2377440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95944" y="2359152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使用场景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93608" y="2660904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21808" y="284378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24144" y="2825496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输入参数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21808" y="3127248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3608" y="2843784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95944" y="2825496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输出结果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93608" y="3127248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21808" y="331012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144" y="329184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调用条件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21808" y="3593592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3608" y="3310128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95944" y="3291840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依赖工具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93608" y="3593592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21808" y="377647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24144" y="3758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失败处理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321808" y="4059936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93608" y="3776472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95944" y="3758184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安全边界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93608" y="4059936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21808" y="424281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24144" y="4224528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验证 / 复用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21808" y="4526280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93608" y="4242816"/>
            <a:ext cx="31089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95944" y="4224528"/>
            <a:ext cx="2331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PingFang SC"/>
              </a:rPr>
              <a:t>版本 / 回滚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93608" y="4526280"/>
            <a:ext cx="2670048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321808" y="5047488"/>
            <a:ext cx="6007608" cy="896112"/>
          </a:xfrm>
          <a:prstGeom prst="rect">
            <a:avLst/>
          </a:prstGeom>
          <a:solidFill>
            <a:srgbClr val="E9E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550408" y="5266944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315CF5"/>
                </a:solidFill>
                <a:latin typeface="PingFang SC"/>
              </a:rPr>
              <a:t>版本与回滚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84848" y="5221224"/>
            <a:ext cx="427939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2D3330"/>
                </a:solidFill>
                <a:latin typeface="PingFang SC"/>
              </a:rPr>
              <a:t>随 AgentRig 0.2.0a0 进入 Git；锁定 AgentTeams v1.1.2；回滚完整 Release + 角色包，不热替换临场 Prompt。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21808" y="6135624"/>
            <a:ext cx="5943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50" b="0">
                <a:solidFill>
                  <a:srgbClr val="68716C"/>
                </a:solidFill>
                <a:latin typeface="PingFang SC"/>
              </a:rPr>
              <a:t>完整逐 Skill 字段表：docs/competition/08-Skill-清单.md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918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315CF5"/>
                </a:solidFill>
                <a:latin typeface="PingFang SC"/>
              </a:rPr>
              <a:t>评审附录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67512"/>
            <a:ext cx="1042416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41719"/>
                </a:solidFill>
                <a:latin typeface="PingFang SC"/>
              </a:rPr>
              <a:t>上下文能力与当前验证台账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79576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8716C"/>
                </a:solidFill>
                <a:latin typeface="PingFang SC"/>
              </a:rPr>
              <a:t>赛题要求四选二；AgentRig 已实现记忆、共享状态和轨迹可观测三项。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47472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54480"/>
            <a:ext cx="10881360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47104"/>
            <a:ext cx="2926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PingFang SC"/>
              </a:rPr>
              <a:t>AgentRig  ·  GOAI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53344" y="6547104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20" b="0">
                <a:solidFill>
                  <a:srgbClr val="929A95"/>
                </a:solidFill>
                <a:latin typeface="Helvetica Neue"/>
              </a:rPr>
              <a:t>15 /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Helvetica Neue"/>
              </a:rPr>
              <a:t>Context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40864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Agent 记忆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340864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0785A"/>
                </a:solidFill>
                <a:latin typeface="PingFang SC"/>
              </a:rPr>
              <a:t>已实现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7792" y="2340864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Session / Turn / Event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8920"/>
            <a:ext cx="42793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054096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知识库 RAG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054096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929A95"/>
                </a:solidFill>
                <a:latin typeface="PingFang SC"/>
              </a:rPr>
              <a:t>未采用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7792" y="3054096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当前评测场景不需要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02152"/>
            <a:ext cx="42793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67328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共享状态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67328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0785A"/>
                </a:solidFill>
                <a:latin typeface="PingFang SC"/>
              </a:rPr>
              <a:t>已实现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7792" y="376732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Plan / Invocation / Run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15384"/>
            <a:ext cx="42793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80560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2D3330"/>
                </a:solidFill>
                <a:latin typeface="PingFang SC"/>
              </a:rPr>
              <a:t>轨迹可观测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480560"/>
            <a:ext cx="6400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0785A"/>
                </a:solidFill>
                <a:latin typeface="PingFang SC"/>
              </a:rPr>
              <a:t>已实现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7792" y="4480560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>
                <a:solidFill>
                  <a:srgbClr val="68716C"/>
                </a:solidFill>
                <a:latin typeface="PingFang SC"/>
              </a:rPr>
              <a:t>RunEvent / Eval / Matrix IDs / hash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928616"/>
            <a:ext cx="4279392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12080" y="1810512"/>
            <a:ext cx="10160" cy="4151376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41264" y="1828800"/>
            <a:ext cx="5705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41719"/>
                </a:solidFill>
                <a:latin typeface="Helvetica Neue"/>
              </a:rPr>
              <a:t>Verification ledger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1264" y="2340864"/>
            <a:ext cx="1298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Helvetica Neue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2340864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>
                <a:solidFill>
                  <a:srgbClr val="315CF5"/>
                </a:solidFill>
                <a:latin typeface="Helvetica Neue"/>
              </a:rPr>
              <a:t>134 passed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2340864"/>
            <a:ext cx="26791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0" b="0">
                <a:solidFill>
                  <a:srgbClr val="68716C"/>
                </a:solidFill>
                <a:latin typeface="PingFang SC"/>
              </a:rPr>
              <a:t>6 skipped / 1 deprecation warning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41264" y="2724912"/>
            <a:ext cx="5705856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1264" y="2962656"/>
            <a:ext cx="1298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Helvetica Neue"/>
              </a:rPr>
              <a:t>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7728" y="2962656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>
                <a:solidFill>
                  <a:srgbClr val="315CF5"/>
                </a:solidFill>
                <a:latin typeface="Helvetica Neue"/>
              </a:rPr>
              <a:t>30 unit + 2 E2E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7072" y="2962656"/>
            <a:ext cx="26791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0" b="0">
                <a:solidFill>
                  <a:srgbClr val="68716C"/>
                </a:solidFill>
                <a:latin typeface="PingFang SC"/>
              </a:rPr>
              <a:t>typecheck / coverage / build passed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41264" y="3346704"/>
            <a:ext cx="5705856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41264" y="3584448"/>
            <a:ext cx="1298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Helvetica Neue"/>
              </a:rPr>
              <a:t>Reference demo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728" y="3584448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>
                <a:solidFill>
                  <a:srgbClr val="315CF5"/>
                </a:solidFill>
                <a:latin typeface="Helvetica Neue"/>
              </a:rPr>
              <a:t>3 scenarios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77072" y="3584448"/>
            <a:ext cx="26791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0" b="0">
                <a:solidFill>
                  <a:srgbClr val="68716C"/>
                </a:solidFill>
                <a:latin typeface="PingFang SC"/>
              </a:rPr>
              <a:t>success / policy regression / recovery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41264" y="3968496"/>
            <a:ext cx="5705856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41264" y="4206240"/>
            <a:ext cx="1298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Helvetica Neue"/>
              </a:rPr>
              <a:t>Secret scan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7728" y="4206240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>
                <a:solidFill>
                  <a:srgbClr val="20785A"/>
                </a:solidFill>
                <a:latin typeface="Helvetica Neue"/>
              </a:rPr>
              <a:t>0 findings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7072" y="4206240"/>
            <a:ext cx="26791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0" b="0">
                <a:solidFill>
                  <a:srgbClr val="68716C"/>
                </a:solidFill>
                <a:latin typeface="PingFang SC"/>
              </a:rPr>
              <a:t>Gitleaks 8.29.1 + fixture sanity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41264" y="4590288"/>
            <a:ext cx="5705856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541264" y="4828032"/>
            <a:ext cx="1298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2D3330"/>
                </a:solidFill>
                <a:latin typeface="Helvetica Neue"/>
              </a:rPr>
              <a:t>Worker receipts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67728" y="4828032"/>
            <a:ext cx="14813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>
                <a:solidFill>
                  <a:srgbClr val="20785A"/>
                </a:solidFill>
                <a:latin typeface="Helvetica Neue"/>
              </a:rPr>
              <a:t>2 directions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77072" y="4828032"/>
            <a:ext cx="267919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0" b="0">
                <a:solidFill>
                  <a:srgbClr val="68716C"/>
                </a:solidFill>
                <a:latin typeface="PingFang SC"/>
              </a:rPr>
              <a:t>Curator + Judge / Matrix event IDs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41264" y="5212080"/>
            <a:ext cx="5705856" cy="10160"/>
          </a:xfrm>
          <a:prstGeom prst="rect">
            <a:avLst/>
          </a:prstGeom>
          <a:solidFill>
            <a:srgbClr val="D9DC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5760720"/>
            <a:ext cx="10607040" cy="438912"/>
          </a:xfrm>
          <a:prstGeom prst="rect">
            <a:avLst/>
          </a:prstGeom>
          <a:solidFill>
            <a:srgbClr val="F8E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" y="5879592"/>
            <a:ext cx="10195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C34A3C"/>
                </a:solidFill>
                <a:latin typeface="PingFang SC"/>
              </a:rPr>
              <a:t>边界：未把云端 OTel/SLS、Kubernetes 与公开 Release/Tag 伪装为已完成。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