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71B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658368" y="502920"/>
            <a:ext cx="384048" cy="384048"/>
          </a:xfrm>
          <a:prstGeom prst="rect">
            <a:avLst/>
          </a:prstGeom>
          <a:solidFill>
            <a:srgbClr val="285CF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58368" y="49377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FFFFFF"/>
                </a:solidFill>
                <a:latin typeface="Helvetica Neue"/>
              </a:rPr>
              <a:t>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97864" y="603504"/>
            <a:ext cx="20116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FFFFFF"/>
                </a:solidFill>
                <a:latin typeface="PingFang SC"/>
              </a:rPr>
              <a:t>AgentRig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41080" y="603504"/>
            <a:ext cx="28803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850" b="0">
                <a:solidFill>
                  <a:srgbClr val="A8B0AC"/>
                </a:solidFill>
                <a:latin typeface="PingFang SC"/>
              </a:rPr>
              <a:t>GOAI 2026 · Agent Infra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1344168"/>
            <a:ext cx="55778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PingFang SC"/>
              </a:rPr>
              <a:t>让 Agent 的每次变化
都有可发布的证据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3127248"/>
            <a:ext cx="5303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50" b="0">
                <a:solidFill>
                  <a:srgbClr val="CAD0CD"/>
                </a:solidFill>
                <a:latin typeface="PingFang SC"/>
              </a:rPr>
              <a:t>真实推理 · 受控副作用 · 行为级回归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3730752"/>
            <a:ext cx="5074920" cy="10972"/>
          </a:xfrm>
          <a:prstGeom prst="rect">
            <a:avLst/>
          </a:prstGeom>
          <a:solidFill>
            <a:srgbClr val="363C3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5800" y="4005072"/>
            <a:ext cx="498348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270" b="0">
                <a:solidFill>
                  <a:srgbClr val="A8B0AC"/>
                </a:solidFill>
                <a:latin typeface="PingFang SC"/>
              </a:rPr>
              <a:t>Codex 改变 Agent，AgentRig 把改变固化成
Case、Run、Timeline、Sample 与 Gate。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9944" y="1143000"/>
            <a:ext cx="5111496" cy="320954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editflow-04-accep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1161288"/>
            <a:ext cx="5074920" cy="3172968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428232" y="4590288"/>
            <a:ext cx="210312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28232" y="4590288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EDITFLOW · 30 / 30 PASS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28232" y="5074920"/>
            <a:ext cx="50292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A8B0AC"/>
                </a:solidFill>
                <a:latin typeface="PingFang SC"/>
              </a:rPr>
              <a:t>公开脱敏 Agent · 真实 Agno + DeepSeek · 本地可复现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5285232"/>
            <a:ext cx="29260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Helvetica Neue"/>
              </a:rPr>
              <a:t>EVIDENCE BEFORE CONFIDENCE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A77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737A77"/>
                </a:solidFill>
                <a:latin typeface="Helvetica Neue"/>
              </a:rPr>
              <a:t>01 / 16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Prompt 改一行，Agent 行为可能变五层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最终回答相似，不代表工具选择、参数、顺序和结果引用仍然正确。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02 / 16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" y="1956816"/>
            <a:ext cx="416052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500" b="1">
                <a:solidFill>
                  <a:srgbClr val="121617"/>
                </a:solidFill>
                <a:latin typeface="PingFang SC"/>
              </a:rPr>
              <a:t>一次成功 Demo，
不足以批准一次发布。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182112"/>
            <a:ext cx="38862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280" b="0">
                <a:solidFill>
                  <a:srgbClr val="67706B"/>
                </a:solidFill>
                <a:latin typeface="PingFang SC"/>
              </a:rPr>
              <a:t>Agent 的概率性与工具副作用，使传统单元测试和纯 Mock 都无法独立回答发布问题。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3232" y="4572000"/>
            <a:ext cx="3931920" cy="694944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773168"/>
            <a:ext cx="35295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50" b="1">
                <a:solidFill>
                  <a:srgbClr val="FFFFFF"/>
                </a:solidFill>
                <a:latin typeface="PingFang SC"/>
              </a:rPr>
              <a:t>目标：真实决策，受控执行，可审计结论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166360" y="1865376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166360" y="1865376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25312" y="1892807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工具选择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69480" y="1901952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调用哪个工具，是否过度路由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75504" y="2505456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66360" y="2798064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166360" y="2798064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25312" y="2825496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参数传播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2834640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人物保护、素材 ID、图片引用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75504" y="3438144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66360" y="3730752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66360" y="3730752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25312" y="3758184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调用顺序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69480" y="3767328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检查、修改、搜索、应用、裁剪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75504" y="4370832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166360" y="4663440"/>
            <a:ext cx="5303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166360" y="4663440"/>
            <a:ext cx="530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25312" y="4690872"/>
            <a:ext cx="13258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00" b="1">
                <a:solidFill>
                  <a:srgbClr val="121617"/>
                </a:solidFill>
                <a:latin typeface="PingFang SC"/>
              </a:rPr>
              <a:t>执行成本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69480" y="47000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图片、支付、发信与生产写入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175504" y="5303520"/>
            <a:ext cx="589788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产品边界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AgentRig 不替 Agent 回答，只治理评测边界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模型仍真实推理；工具结果来源、事实记录与裁决责任被独立控制。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" y="2103120"/>
            <a:ext cx="98755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TARGET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真实被测 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模型推理
HTTP / SSE
Session 与工具选择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3101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535424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91456" y="2103120"/>
            <a:ext cx="987552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91456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CONTROL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91456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工具结果 Provider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791456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Fixture
审核 Sample
Simulator / Real Tool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36992" y="33101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22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357615" y="1874519"/>
            <a:ext cx="3310128" cy="334670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613647" y="2103120"/>
            <a:ext cx="987552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613647" y="2103120"/>
            <a:ext cx="9875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13647" y="2670048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800" b="1">
                <a:solidFill>
                  <a:srgbClr val="121617"/>
                </a:solidFill>
                <a:latin typeface="PingFang SC"/>
              </a:rPr>
              <a:t>事实与裁决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13647" y="3273552"/>
            <a:ext cx="2743200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  <a:spcAft>
                <a:spcPts val="0"/>
              </a:spcAft>
            </a:pPr>
            <a:r>
              <a:rPr sz="1350" b="0">
                <a:solidFill>
                  <a:srgbClr val="67706B"/>
                </a:solidFill>
                <a:latin typeface="PingFang SC"/>
              </a:rPr>
              <a:t>Manifest
Cell / Attempt / Event
Rule / Judge / Human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993392" y="5522976"/>
            <a:ext cx="8211312" cy="50292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194560" y="5650992"/>
            <a:ext cx="781812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00" b="1">
                <a:solidFill>
                  <a:srgbClr val="FFFFFF"/>
                </a:solidFill>
                <a:latin typeface="PingFang SC"/>
              </a:rPr>
              <a:t>保留决策真实性　｜　隔离工具副作用　｜　裁决不污染事实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平台闭环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Identity → Asset → Run → Evidence → Gate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每一层都有稳定身份；历史 Run 不被修复动作覆盖。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23544" y="222199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23544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Identity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544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Target
Prompt SHA
Tool schema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86000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551176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770632" y="2221992"/>
            <a:ext cx="45720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770632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770632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Assets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70632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Case
Profile
Sample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3087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398264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617720" y="222199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17720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17720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Manifest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617720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Canonical
Preview
Hash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0176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245352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464808" y="222199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64808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64808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Execution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64808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Cell
Attempt
Event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827264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092440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8311896" y="2221992"/>
            <a:ext cx="457200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11896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11896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Decision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1896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Rule
Judge
Human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74352" y="32461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9939528" y="1984248"/>
            <a:ext cx="1572768" cy="285292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10158984" y="222199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158984" y="222199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158984" y="2798064"/>
            <a:ext cx="11887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121617"/>
                </a:solidFill>
                <a:latin typeface="PingFang SC"/>
              </a:rPr>
              <a:t>Release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58984" y="3401568"/>
            <a:ext cx="117043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  <a:spcAft>
                <a:spcPts val="0"/>
              </a:spcAft>
            </a:pPr>
            <a:r>
              <a:rPr sz="1100" b="0">
                <a:solidFill>
                  <a:srgbClr val="67706B"/>
                </a:solidFill>
                <a:latin typeface="PingFang SC"/>
              </a:rPr>
              <a:t>Report
Gate
Audit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65960" y="5340096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21617"/>
                </a:solidFill>
                <a:latin typeface="PingFang SC"/>
              </a:rPr>
              <a:t>同一事实链支持本地调试、团队评审、CI Gate 与生产回灌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828800" y="5806440"/>
            <a:ext cx="8549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不是一张绿色分数卡，而是一条可定位、可复跑、可追责的发布证据链。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双入口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不同能力可以给出不同方案，共享同一种证据合同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Codex 面向开发者闭环；Web 助手面向产品、运营与测试人员。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828800"/>
            <a:ext cx="5440680" cy="388620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084831"/>
            <a:ext cx="13716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DEVELOPER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14600"/>
            <a:ext cx="4663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Codex + 项目 Skill +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172968"/>
            <a:ext cx="4709160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CFD4D1"/>
                </a:solidFill>
                <a:latin typeface="PingFang SC"/>
              </a:defRPr>
            </a:pPr>
            <a:r>
              <a:t>•  读取代码、Prompt Diff 和业务不变量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CFD4D1"/>
                </a:solidFill>
                <a:latin typeface="PingFang SC"/>
              </a:defRPr>
            </a:pPr>
            <a:r>
              <a:t>•  查询、创建并治理 Case / Sample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CFD4D1"/>
                </a:solidFill>
                <a:latin typeface="PingFang SC"/>
              </a:defRPr>
            </a:pPr>
            <a:r>
              <a:t>•  Preview 后按 Manifest 提交回归矩阵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CFD4D1"/>
                </a:solidFill>
                <a:latin typeface="PingFang SC"/>
              </a:defRPr>
            </a:pPr>
            <a:r>
              <a:t>•  基于 Timeline 修复并输出验收结论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60120" y="5093208"/>
            <a:ext cx="214884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60120" y="509320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主入口 · 改软件 + 治回归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82512" y="1828800"/>
            <a:ext cx="5120640" cy="388620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56832" y="2084831"/>
            <a:ext cx="16459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17745A"/>
                </a:solidFill>
                <a:latin typeface="PingFang SC"/>
              </a:rPr>
              <a:t>PRODUCT / QA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56832" y="25146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000" b="1">
                <a:solidFill>
                  <a:srgbClr val="121617"/>
                </a:solidFill>
                <a:latin typeface="PingFang SC"/>
              </a:rPr>
              <a:t>AgentRig 智能评测助手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56832" y="3172968"/>
            <a:ext cx="4315968" cy="1600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自然语言描述评测目标和成本边界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模型生成自己的可编辑计划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高成本执行必须人工确认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130">
                <a:solidFill>
                  <a:srgbClr val="67706B"/>
                </a:solidFill>
                <a:latin typeface="PingFang SC"/>
              </a:defRPr>
            </a:pPr>
            <a:r>
              <a:t>•  复用 Target、Case、Run 与报告资产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56832" y="5093208"/>
            <a:ext cx="214884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56832" y="5093208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辅助入口 · 无需 MCP 知识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920240" y="5971032"/>
            <a:ext cx="84124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67706B"/>
                </a:solidFill>
                <a:latin typeface="PingFang SC"/>
              </a:rPr>
              <a:t>不要求两种模型生成同一方案；要求每个结论都能回到冻结资产和运行证据。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公开被测对象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EditFlow：可复现、可脱敏、仍然足够真实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以 lassist 的真实修图链路为基础，去除私有素材、版本与基础设施依赖。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840480" cy="411480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78408" y="2121408"/>
            <a:ext cx="1508760" cy="329184"/>
          </a:xfrm>
          <a:prstGeom prst="rect">
            <a:avLst/>
          </a:prstGeom>
          <a:solidFill>
            <a:srgbClr val="1D2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78408" y="2121408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80A9FF"/>
                </a:solidFill>
                <a:latin typeface="PingFang SC"/>
              </a:rPr>
              <a:t>OPEN DEMO AGENT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78408" y="2688336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100" b="1">
                <a:solidFill>
                  <a:srgbClr val="FFFFFF"/>
                </a:solidFill>
                <a:latin typeface="PingFang SC"/>
              </a:rPr>
              <a:t>Agno + DeepSeek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78408" y="3346704"/>
            <a:ext cx="3017520" cy="1481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  <a:spcAft>
                <a:spcPts val="0"/>
              </a:spcAft>
            </a:pPr>
            <a:r>
              <a:rPr sz="1250" b="0">
                <a:solidFill>
                  <a:srgbClr val="CFD4D1"/>
                </a:solidFill>
                <a:latin typeface="PingFang SC"/>
              </a:rPr>
              <a:t>PostgreSQL Session
HTTP/SSE Target
External tool execution
Local deterministic MCP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78408" y="5330952"/>
            <a:ext cx="31546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8EA5FF"/>
                </a:solidFill>
                <a:latin typeface="PingFang SC"/>
              </a:rPr>
              <a:t>不上传图片 · 不调用第三方图片 API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56048" y="1856231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956048" y="1856231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50992" y="1874519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inspect_image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54112" y="1883663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读取图片属性与主体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956048" y="2404872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956048" y="2624327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956048" y="2624327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50992" y="2642615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retouch_photo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54112" y="2651759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亮度、对比度等像素调整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956048" y="3172968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956048" y="3392424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956048" y="3392424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50992" y="3410712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search_assets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54112" y="341985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搜索受控素材并返回真实 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956048" y="3941063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956048" y="4160520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956048" y="4160520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650992" y="4178807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apply_asset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54112" y="418795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消费素材 ID 与最新图片引用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956048" y="4709159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4956048" y="4928616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956048" y="4928616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50992" y="4946903"/>
            <a:ext cx="196596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121617"/>
                </a:solidFill>
                <a:latin typeface="Menlo"/>
              </a:rPr>
              <a:t>crop_photo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754112" y="495604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50" b="0">
                <a:solidFill>
                  <a:srgbClr val="67706B"/>
                </a:solidFill>
                <a:latin typeface="PingFang SC"/>
              </a:rPr>
              <a:t>按目标比例裁剪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956048" y="5477255"/>
            <a:ext cx="61722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956048" y="5715000"/>
            <a:ext cx="6172200" cy="384048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102352" y="5806440"/>
            <a:ext cx="5870448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真实：模型、协议、Session、工具决策　｜　受控：图片工具结果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真实回归 · Before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同一冻结 Case 跑 5 次：2 Pass / 3 Behavior Fail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单次成功掩盖模型方差；父 Run completed 不等于业务验收通过。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07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07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886200" cy="431596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12264"/>
            <a:ext cx="15544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HEADLINE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87552" y="2651760"/>
            <a:ext cx="31089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PingFang SC"/>
              </a:rPr>
              <a:t>一步完成调亮、
雪山背景与 4:5 裁剪，
并保持人物。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626864"/>
            <a:ext cx="31089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case_editflow_one_step_mixed_chain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5193792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Manifest  bb5008e6…6766aa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5559552"/>
            <a:ext cx="2971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30" b="0">
                <a:solidFill>
                  <a:srgbClr val="AAB3AF"/>
                </a:solidFill>
                <a:latin typeface="Menlo"/>
              </a:rPr>
              <a:t>Prompt SHA 43157c…9572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2029968"/>
            <a:ext cx="10972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17745A"/>
                </a:solidFill>
                <a:latin typeface="Helvetica Neue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2514600"/>
            <a:ext cx="10972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Pass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01968" y="2029968"/>
            <a:ext cx="1554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C84438"/>
                </a:solidFill>
                <a:latin typeface="Helvetica Neue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601968" y="2514600"/>
            <a:ext cx="1554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Behavior Fail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02996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0" y="2514600"/>
            <a:ext cx="21031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Independent Attempts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02352" y="3035808"/>
            <a:ext cx="594360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20640" y="3401568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350" b="1">
                <a:solidFill>
                  <a:srgbClr val="C84438"/>
                </a:solidFill>
                <a:latin typeface="PingFang SC"/>
              </a:rPr>
              <a:t>失败轨迹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822191"/>
            <a:ext cx="5925312" cy="1097280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376672" y="4096512"/>
            <a:ext cx="539496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20" b="1">
                <a:solidFill>
                  <a:srgbClr val="C84438"/>
                </a:solidFill>
                <a:latin typeface="Menlo"/>
              </a:rPr>
              <a:t>retouch_photo  →  inspect_image  →  search_assets  →  apply_asset  →  crop_photo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120640" y="5221224"/>
            <a:ext cx="5897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2B312F"/>
                </a:solidFill>
                <a:latin typeface="PingFang SC"/>
              </a:rPr>
              <a:t>检查有时落在调亮之后，违反“先检查再修改”的冻结行为契约。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742432"/>
            <a:ext cx="43891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40" b="0">
                <a:solidFill>
                  <a:srgbClr val="67706B"/>
                </a:solidFill>
                <a:latin typeface="Menlo"/>
              </a:rPr>
              <a:t>Run  run_61e76493…8d9c03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Codex + Skill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不是盲目增加用例，而是按 Prompt Diff 治理风险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项目 Skill 先冻结身份与不变量，再查询 AgentRig 资产并分类。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08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08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41832" y="2103120"/>
            <a:ext cx="841248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418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REUSE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418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复用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已有用例已覆盖，直接进入矩阵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564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85032" y="2103120"/>
            <a:ext cx="841248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850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850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增强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850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行为契约变化，增强现有断言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996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28232" y="2103120"/>
            <a:ext cx="84124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282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NEW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282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新增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282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变更引入新风险，现场创建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942832" y="1874519"/>
            <a:ext cx="2450592" cy="19659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171432" y="2103120"/>
            <a:ext cx="841248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171432" y="2103120"/>
            <a:ext cx="84124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EXCLUDE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71432" y="267919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21617"/>
                </a:solidFill>
                <a:latin typeface="PingFang SC"/>
              </a:rPr>
              <a:t>排除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71432" y="31638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与本次 Prompt Diff 无关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430682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本次防回归矩阵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4736592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54480" y="4736592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1">
                <a:solidFill>
                  <a:srgbClr val="2B312F"/>
                </a:solidFill>
                <a:latin typeface="Menlo"/>
              </a:rPr>
              <a:t>brighten_only_no_over_routing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983480" y="4736592"/>
            <a:ext cx="5897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67706B"/>
                </a:solidFill>
                <a:latin typeface="PingFang SC"/>
              </a:rPr>
              <a:t>简单调亮不能拆成素材或裁剪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49808" y="5102352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54480" y="5102352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1">
                <a:solidFill>
                  <a:srgbClr val="2B312F"/>
                </a:solidFill>
                <a:latin typeface="Menlo"/>
              </a:rPr>
              <a:t>asset_search_miss_no_invention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83480" y="5102352"/>
            <a:ext cx="5897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67706B"/>
                </a:solidFill>
                <a:latin typeface="PingFang SC"/>
              </a:rPr>
              <a:t>搜索为空不能编造 asset_id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5468112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1">
                <a:solidFill>
                  <a:srgbClr val="A76509"/>
                </a:solidFill>
                <a:latin typeface="PingFang SC"/>
              </a:rPr>
              <a:t>Change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54480" y="5468112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1">
                <a:solidFill>
                  <a:srgbClr val="2B312F"/>
                </a:solidFill>
                <a:latin typeface="Menlo"/>
              </a:rPr>
              <a:t>preserve_subject_propagation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83480" y="5468112"/>
            <a:ext cx="5897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67706B"/>
                </a:solidFill>
                <a:latin typeface="PingFang SC"/>
              </a:rPr>
              <a:t>人物保护必须跨工具传播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49808" y="5833872"/>
            <a:ext cx="7132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1">
                <a:solidFill>
                  <a:srgbClr val="285CF5"/>
                </a:solidFill>
                <a:latin typeface="PingFang SC"/>
              </a:rPr>
              <a:t>New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554480" y="5833872"/>
            <a:ext cx="3246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1">
                <a:solidFill>
                  <a:srgbClr val="2B312F"/>
                </a:solidFill>
                <a:latin typeface="Menlo"/>
              </a:rPr>
              <a:t>one_step_mixed_chain_boundary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83480" y="5833872"/>
            <a:ext cx="58978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60" b="0">
                <a:solidFill>
                  <a:srgbClr val="67706B"/>
                </a:solidFill>
                <a:latin typeface="PingFang SC"/>
              </a:rPr>
              <a:t>一步完成也不能绕过专用工具边界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920240" y="6190488"/>
            <a:ext cx="8321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80" b="1">
                <a:solidFill>
                  <a:srgbClr val="C84438"/>
                </a:solidFill>
                <a:latin typeface="PingFang SC"/>
              </a:rPr>
              <a:t>Draft → 人工审核 → approved；创建者不能批准自己创建的资产。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最小修复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只改模型可见边界，并用 Prompt SHA 证明 Candidate 已生效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HTTP/SSE 适配层没有加入关键词路由，也没有为视频写死答案。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09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09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56231"/>
            <a:ext cx="6629400" cy="4114800"/>
          </a:xfrm>
          <a:prstGeom prst="rect">
            <a:avLst/>
          </a:prstGeom>
          <a:solidFill>
            <a:srgbClr val="0E141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69264" y="2103120"/>
            <a:ext cx="1097280" cy="329184"/>
          </a:xfrm>
          <a:prstGeom prst="rect">
            <a:avLst/>
          </a:prstGeom>
          <a:solidFill>
            <a:srgbClr val="1D2B3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9264" y="2103120"/>
            <a:ext cx="1097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80A9FF"/>
                </a:solidFill>
                <a:latin typeface="PingFang SC"/>
              </a:rPr>
              <a:t>PROMPT DIFF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9264" y="2688336"/>
            <a:ext cx="5943600" cy="2468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1120" b="0">
                <a:solidFill>
                  <a:srgbClr val="D7E0E4"/>
                </a:solidFill>
                <a:latin typeface="Menlo"/>
              </a:rPr>
              <a:t>- retouch_photo 可完成复合图片编辑
+ retouch_photo 仅处理亮度、对比度等像素调整
+ 背景/素材必须 search_assets → apply_asset
+ 比例必须 crop_photo
+ 下一工具消费最新 output_image_ref
+ preserve_subject 传播到相关工具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9264" y="5422392"/>
            <a:ext cx="53035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8EA5FF"/>
                </a:solidFill>
                <a:latin typeface="Menlo"/>
              </a:rPr>
              <a:t>修改范围：system.md + tool description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0" y="1965960"/>
            <a:ext cx="9144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C84438"/>
                </a:solidFill>
                <a:latin typeface="PingFang SC"/>
              </a:rPr>
              <a:t>BEFORE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0" y="2404872"/>
            <a:ext cx="31272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C84438"/>
                </a:solidFill>
                <a:latin typeface="Menlo"/>
              </a:rPr>
              <a:t>43157c…9572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772400" y="2999232"/>
            <a:ext cx="324612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0" y="33649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17745A"/>
                </a:solidFill>
                <a:latin typeface="PingFang SC"/>
              </a:rPr>
              <a:t>CANDIDATE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803904"/>
            <a:ext cx="312724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17745A"/>
                </a:solidFill>
                <a:latin typeface="Menlo"/>
              </a:rPr>
              <a:t>71adb3…f7fd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772400" y="4599432"/>
            <a:ext cx="3246120" cy="713232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973568" y="4773168"/>
            <a:ext cx="28346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100" b="1">
                <a:solidFill>
                  <a:srgbClr val="17745A"/>
                </a:solidFill>
                <a:latin typeface="PingFang SC"/>
              </a:rPr>
              <a:t>SHA 不变，Candidate
就没有验收资格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0" y="5678424"/>
            <a:ext cx="3246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67706B"/>
                </a:solidFill>
                <a:latin typeface="PingFang SC"/>
              </a:rPr>
              <a:t>仓库门禁：34 tests passed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Candidate 回归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同 Case 5/5；六 Case 矩阵 30/30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每次 Attempt 都独立执行；没有用一个绿色总分掩盖方差。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10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10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403336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2-candidate-ru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366760" cy="460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72600" y="195681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6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441448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Cells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14432" y="1956816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30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14432" y="2441448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Attempts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54312" y="2926080"/>
            <a:ext cx="1993392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326440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17745A"/>
                </a:solidFill>
                <a:latin typeface="Helvetica Neue"/>
              </a:rPr>
              <a:t>30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3749039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Pass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14432" y="3264408"/>
            <a:ext cx="914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C84438"/>
                </a:solidFill>
                <a:latin typeface="Helvetica Neue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4432" y="3749039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Fail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4325112"/>
            <a:ext cx="1993392" cy="1005840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28048" y="4535424"/>
            <a:ext cx="164592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1250" b="1">
                <a:solidFill>
                  <a:srgbClr val="17745A"/>
                </a:solidFill>
                <a:latin typeface="PingFang SC"/>
              </a:rPr>
              <a:t>headline
2 / 5 → 5 / 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54312" y="5650992"/>
            <a:ext cx="199339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30" b="0">
                <a:solidFill>
                  <a:srgbClr val="67706B"/>
                </a:solidFill>
                <a:latin typeface="Menlo"/>
              </a:rPr>
              <a:t>run_3afacf…4793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行为证据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不只验证最终文字：完整 Timeline 可以下钻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工具参数、Provider 来源、结果引用与裁决都关联同一 Attempt。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11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11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220455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3-tim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183879" cy="4608576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9189720" y="1901952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89720" y="1901952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02368" y="1947672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inspect_image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189720" y="2523744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89720" y="2523744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02368" y="2569464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search_assets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189720" y="3145536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89720" y="3145536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802368" y="3191256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retouch_photo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89720" y="3767328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9720" y="3767328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802368" y="3813048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apply_asset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189720" y="4389120"/>
            <a:ext cx="402336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89720" y="4389120"/>
            <a:ext cx="402336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802368" y="4434840"/>
            <a:ext cx="15087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121617"/>
                </a:solidFill>
                <a:latin typeface="Menlo"/>
              </a:rPr>
              <a:t>crop_photo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189720" y="5102352"/>
            <a:ext cx="2084831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89720" y="5376672"/>
            <a:ext cx="210312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  <a:spcAft>
                <a:spcPts val="0"/>
              </a:spcAft>
            </a:pPr>
            <a:r>
              <a:rPr sz="950" b="1">
                <a:solidFill>
                  <a:srgbClr val="17745A"/>
                </a:solidFill>
                <a:latin typeface="PingFang SC"/>
              </a:rPr>
              <a:t>✓ asset_id 来自搜索
✓ preserve_subject 传播
✓ image_ref 逐步更新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低副作用核心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真实工具结果，如何变成可审核的零真实调用回归资产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真实来源、人工责任和重复成本被放进同一条证据链。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12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12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32688" y="2176272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32688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2688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真实 MCP 调用 1 次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2688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285CF5"/>
                </a:solidFill>
                <a:latin typeface="Menlo"/>
              </a:rPr>
              <a:t>run_db173d…59ef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42615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26080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145536" y="2176272"/>
            <a:ext cx="438912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145536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45536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Event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45536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持久化 real_tool 事实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45536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A76509"/>
                </a:solidFill>
                <a:latin typeface="Menlo"/>
              </a:rPr>
              <a:t>evt_32fb37…f80d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855464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38928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358384" y="2176272"/>
            <a:ext cx="438912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58384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58384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Sample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58384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Codex 创建 Draft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58384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285CF5"/>
                </a:solidFill>
                <a:latin typeface="Menlo"/>
              </a:rPr>
              <a:t>sample_editflow…0814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68312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351775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571231" y="2176272"/>
            <a:ext cx="438912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571231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04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571231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Review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71231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人类批准来源与边界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571231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C84438"/>
                </a:solidFill>
                <a:latin typeface="Menlo"/>
              </a:rPr>
              <a:t>approved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81159" y="331927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600" b="1">
                <a:solidFill>
                  <a:srgbClr val="285CF5"/>
                </a:solidFill>
                <a:latin typeface="PingFang SC"/>
              </a:rPr>
              <a:t>→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564624" y="1920240"/>
            <a:ext cx="1938528" cy="324612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784080" y="2176272"/>
            <a:ext cx="438912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784080" y="2176272"/>
            <a:ext cx="4389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784080" y="2770632"/>
            <a:ext cx="1417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500" b="1">
                <a:solidFill>
                  <a:srgbClr val="121617"/>
                </a:solidFill>
                <a:latin typeface="PingFang SC"/>
              </a:rPr>
              <a:t>Replay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784080" y="3355848"/>
            <a:ext cx="148132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Sample-only × 5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784080" y="4288536"/>
            <a:ext cx="1481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19" b="1">
                <a:solidFill>
                  <a:srgbClr val="17745A"/>
                </a:solidFill>
                <a:latin typeface="Menlo"/>
              </a:rPr>
              <a:t>run_1a209c…0b90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847088" y="5513832"/>
            <a:ext cx="8503920" cy="56692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2048256" y="5669280"/>
            <a:ext cx="8101583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120" b="1">
                <a:solidFill>
                  <a:srgbClr val="FFFFFF"/>
                </a:solidFill>
                <a:latin typeface="PingFang SC"/>
              </a:rPr>
              <a:t>Replay：5 / 5 Sample hit　｜　该 Run 中 real_tool Provider Attempt = 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普通用户入口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自然语言规划，确认与提交分离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无需理解 MCP；成本边界和人工责任仍由 Core 强制执行。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13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13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694944" y="1792224"/>
            <a:ext cx="8403336" cy="4645152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editflow-05-assist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1810512"/>
            <a:ext cx="8366760" cy="46085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372600" y="192024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72600" y="2404872"/>
            <a:ext cx="8229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Case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332720" y="1920240"/>
            <a:ext cx="10058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600" b="1">
                <a:solidFill>
                  <a:srgbClr val="285CF5"/>
                </a:solidFill>
                <a:latin typeface="Helvetica Neue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332720" y="2404872"/>
            <a:ext cx="1005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19" b="0">
                <a:solidFill>
                  <a:srgbClr val="67706B"/>
                </a:solidFill>
                <a:latin typeface="PingFang SC"/>
              </a:rPr>
              <a:t>Attempts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54312" y="2889504"/>
            <a:ext cx="1993392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3227832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01  生成 Draft 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3675887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02  重复执行触发确认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72600" y="4123944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03  confirm 不创建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72600" y="4572000"/>
            <a:ext cx="1828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30" b="1">
                <a:solidFill>
                  <a:srgbClr val="2B312F"/>
                </a:solidFill>
                <a:latin typeface="PingFang SC"/>
              </a:rPr>
              <a:t>04  submit 才执行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354312" y="5102352"/>
            <a:ext cx="1993392" cy="658368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91472" y="5230368"/>
            <a:ext cx="171907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0"/>
              </a:spcAft>
            </a:pPr>
            <a:r>
              <a:rPr sz="980" b="1">
                <a:solidFill>
                  <a:srgbClr val="17745A"/>
                </a:solidFill>
                <a:latin typeface="Menlo"/>
              </a:rPr>
              <a:t>run_a1c88b…23fb
3 / 3 PASS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平台优势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不是 EditFlow 专用脚本，而是可替换的评测控制面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框架、结果来源、裁决方式和消费入口彼此解耦。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14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14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49808" y="1847088"/>
            <a:ext cx="93268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847088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入口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901952" y="1847088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167128" y="1975104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Codex / MCP · Web Assistant · CLI · CI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606040"/>
            <a:ext cx="932688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606040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Driver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901952" y="2606040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167128" y="2734056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HTTP/SSE · OpenAI-compatible · AgentScope · AG-UI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364991"/>
            <a:ext cx="932688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364991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Provider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901952" y="3364991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167128" y="3493008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0">
                <a:solidFill>
                  <a:srgbClr val="2B312F"/>
                </a:solidFill>
                <a:latin typeface="PingFang SC"/>
              </a:rPr>
              <a:t>Fixture · Approved Sample · Simulator · Real Tool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4123944"/>
            <a:ext cx="932688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" y="4123944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Evidence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901952" y="4123944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167128" y="4251959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2B312F"/>
                </a:solidFill>
                <a:latin typeface="PingFang SC"/>
              </a:rPr>
              <a:t>Manifest · Cell · Attempt · Event · Timeline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882896"/>
            <a:ext cx="932688" cy="329184"/>
          </a:xfrm>
          <a:prstGeom prst="rect">
            <a:avLst/>
          </a:prstGeom>
          <a:solidFill>
            <a:srgbClr val="F8E7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49808" y="4882896"/>
            <a:ext cx="93268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C84438"/>
                </a:solidFill>
                <a:latin typeface="PingFang SC"/>
              </a:rPr>
              <a:t>Decision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901952" y="4882896"/>
            <a:ext cx="9162288" cy="512064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167128" y="5010912"/>
            <a:ext cx="864108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150" b="1">
                <a:solidFill>
                  <a:srgbClr val="2B312F"/>
                </a:solidFill>
                <a:latin typeface="PingFang SC"/>
              </a:rPr>
              <a:t>Rule · Judge · Human Review · Report · Release Gate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749808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9808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Project isolation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926079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926079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Audit log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102352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102352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Durable job</a:t>
            </a:r>
          </a:p>
        </p:txBody>
      </p:sp>
      <p:sp>
        <p:nvSpPr>
          <p:cNvPr id="35" name="Rectangle 34"/>
          <p:cNvSpPr/>
          <p:nvPr/>
        </p:nvSpPr>
        <p:spPr>
          <a:xfrm>
            <a:off x="7278624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7278624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OTLP → Case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454896" y="5806440"/>
            <a:ext cx="1920240" cy="329184"/>
          </a:xfrm>
          <a:prstGeom prst="rect">
            <a:avLst/>
          </a:prstGeom>
          <a:solidFill>
            <a:srgbClr val="ECEFE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54896" y="5806440"/>
            <a:ext cx="19202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67706B"/>
                </a:solidFill>
                <a:latin typeface="PingFang SC"/>
              </a:rPr>
              <a:t>Failure patterns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920240" y="6254496"/>
            <a:ext cx="83210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950" b="0">
                <a:solidFill>
                  <a:srgbClr val="67706B"/>
                </a:solidFill>
                <a:latin typeface="PingFang SC"/>
              </a:rPr>
              <a:t>核心模块可单独使用；AgentTeams 只在动态策展或语义裁决需要时启用。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开源生态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把 AgentScope 的真实闭环经验，抽成可本地部署的开放合同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AgentRig 不是复制一个内部页面，而是开放身份、资产、运行、证据和 Gate。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15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15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65376"/>
            <a:ext cx="3401568" cy="35661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987552" y="2130552"/>
            <a:ext cx="457200" cy="329184"/>
          </a:xfrm>
          <a:prstGeom prst="rect">
            <a:avLst/>
          </a:prstGeom>
          <a:solidFill>
            <a:srgbClr val="E9E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213055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285CF5"/>
                </a:solidFill>
                <a:latin typeface="PingFang SC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2706624"/>
            <a:ext cx="2788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121617"/>
                </a:solidFill>
                <a:latin typeface="PingFang SC"/>
              </a:rPr>
              <a:t>AgentScope 实践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3346704"/>
            <a:ext cx="2761488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真实业务评测闭环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工作台交互经验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AgentTeams 协作范式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89704" y="1865376"/>
            <a:ext cx="3401568" cy="35661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64024" y="2130552"/>
            <a:ext cx="457200" cy="329184"/>
          </a:xfrm>
          <a:prstGeom prst="rect">
            <a:avLst/>
          </a:prstGeom>
          <a:solidFill>
            <a:srgbClr val="E7F3E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64024" y="213055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17745A"/>
                </a:solidFill>
                <a:latin typeface="PingFang SC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64024" y="2706624"/>
            <a:ext cx="2788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121617"/>
                </a:solidFill>
                <a:latin typeface="PingFang SC"/>
              </a:rPr>
              <a:t>AgentRig 开源内核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4024" y="3346704"/>
            <a:ext cx="2761488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协议无关 Driver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低副作用 Provider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Canonical Evidence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66175" y="1865376"/>
            <a:ext cx="3401568" cy="3566160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540496" y="2130552"/>
            <a:ext cx="457200" cy="329184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40496" y="2130552"/>
            <a:ext cx="4572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840" b="1">
                <a:solidFill>
                  <a:srgbClr val="A76509"/>
                </a:solidFill>
                <a:latin typeface="PingFang SC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40496" y="2706624"/>
            <a:ext cx="2788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700" b="1">
                <a:solidFill>
                  <a:srgbClr val="121617"/>
                </a:solidFill>
                <a:latin typeface="PingFang SC"/>
              </a:rPr>
              <a:t>生态消费方式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0496" y="3346704"/>
            <a:ext cx="2761488" cy="13167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Codex + 项目 Skill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普通用户 Web Assistant</a:t>
            </a:r>
          </a:p>
          <a:p>
            <a:pPr>
              <a:lnSpc>
                <a:spcPct val="115000"/>
              </a:lnSpc>
              <a:spcAft>
                <a:spcPts val="1000"/>
              </a:spcAft>
              <a:defRPr sz="1100">
                <a:solidFill>
                  <a:srgbClr val="67706B"/>
                </a:solidFill>
                <a:latin typeface="PingFang SC"/>
              </a:defRPr>
            </a:pPr>
            <a:r>
              <a:t>•  CI / 发布 Gate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43000" y="5733288"/>
            <a:ext cx="9902952" cy="475488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371600" y="5861304"/>
            <a:ext cx="94640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050" b="1">
                <a:solidFill>
                  <a:srgbClr val="FFFFFF"/>
                </a:solidFill>
                <a:latin typeface="PingFang SC"/>
              </a:rPr>
              <a:t>公开 EditFlow 证明可复现　｜　真实 lassist 兼容验证证明不是只适配 Demo Agent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6F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58368" y="310896"/>
            <a:ext cx="47548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50" b="1">
                <a:solidFill>
                  <a:srgbClr val="285CF5"/>
                </a:solidFill>
                <a:latin typeface="PingFang SC"/>
              </a:rPr>
              <a:t>证据台账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58368" y="649224"/>
            <a:ext cx="10424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2700" b="1">
                <a:solidFill>
                  <a:srgbClr val="121617"/>
                </a:solidFill>
                <a:latin typeface="PingFang SC"/>
              </a:rPr>
              <a:t>正式录制已闭环；台账中的每个 Run、Sample 与事件均来自干净录制库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76656" y="1161288"/>
            <a:ext cx="10515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19" b="0">
                <a:solidFill>
                  <a:srgbClr val="67706B"/>
                </a:solidFill>
                <a:latin typeface="PingFang SC"/>
              </a:rPr>
              <a:t>已证明的事实与尚未证明的边界必须同时出现在结论里。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18520" y="338328"/>
            <a:ext cx="50292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900" b="1">
                <a:solidFill>
                  <a:srgbClr val="929A95"/>
                </a:solidFill>
                <a:latin typeface="Helvetica Neue"/>
              </a:rPr>
              <a:t>16</a:t>
            </a:r>
          </a:p>
        </p:txBody>
      </p:sp>
      <p:sp>
        <p:nvSpPr>
          <p:cNvPr id="6" name="Rectangle 5"/>
          <p:cNvSpPr/>
          <p:nvPr/>
        </p:nvSpPr>
        <p:spPr>
          <a:xfrm>
            <a:off x="658368" y="1527048"/>
            <a:ext cx="10881360" cy="10972"/>
          </a:xfrm>
          <a:prstGeom prst="rect">
            <a:avLst/>
          </a:prstGeom>
          <a:solidFill>
            <a:srgbClr val="D8DDD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" y="6556248"/>
            <a:ext cx="3200400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PingFang SC"/>
              </a:rPr>
              <a:t>AgentRig · GOAI 2026 ·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52760" y="6556248"/>
            <a:ext cx="87782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8000"/>
              </a:lnSpc>
              <a:spcAft>
                <a:spcPts val="0"/>
              </a:spcAft>
            </a:pPr>
            <a:r>
              <a:rPr sz="700" b="0">
                <a:solidFill>
                  <a:srgbClr val="929A95"/>
                </a:solidFill>
                <a:latin typeface="Helvetica Neue"/>
              </a:rPr>
              <a:t>16 / 16</a:t>
            </a:r>
          </a:p>
        </p:txBody>
      </p:sp>
      <p:sp>
        <p:nvSpPr>
          <p:cNvPr id="9" name="Rectangle 8"/>
          <p:cNvSpPr/>
          <p:nvPr/>
        </p:nvSpPr>
        <p:spPr>
          <a:xfrm>
            <a:off x="713232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32688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Before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66543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C84438"/>
                </a:solidFill>
                <a:latin typeface="Helvetica Neue"/>
              </a:rPr>
              <a:t>2 / 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53512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3 次行为失败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98264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17720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Headline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751576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5 / 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38544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同 Case + Manifest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83296" y="184708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02752" y="199339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Matrix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36608" y="196596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30 / 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23576" y="200253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6 Cells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13232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32688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Sample replay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066543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5 / 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0 real_tool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98264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617720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Web Assistant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51576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17745A"/>
                </a:solidFill>
                <a:latin typeface="Helvetica Neue"/>
              </a:rPr>
              <a:t>3 / 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38544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确认与提交分离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2898648"/>
            <a:ext cx="3364992" cy="841248"/>
          </a:xfrm>
          <a:prstGeom prst="rect">
            <a:avLst/>
          </a:prstGeom>
          <a:solidFill>
            <a:srgbClr val="FFFFFF"/>
          </a:solidFill>
          <a:ln w="8890">
            <a:solidFill>
              <a:srgbClr val="D8DDD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02752" y="3044952"/>
            <a:ext cx="123444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950" b="1">
                <a:solidFill>
                  <a:srgbClr val="67706B"/>
                </a:solidFill>
                <a:latin typeface="PingFang SC"/>
              </a:rPr>
              <a:t>EditFlow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36608" y="3017520"/>
            <a:ext cx="960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400" b="1">
                <a:solidFill>
                  <a:srgbClr val="285CF5"/>
                </a:solidFill>
                <a:latin typeface="Helvetica Neue"/>
              </a:rPr>
              <a:t>34 tests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23576" y="3054096"/>
            <a:ext cx="914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860" b="0">
                <a:solidFill>
                  <a:srgbClr val="67706B"/>
                </a:solidFill>
                <a:latin typeface="PingFang SC"/>
              </a:rPr>
              <a:t>non-live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13232" y="4315968"/>
            <a:ext cx="10725912" cy="932688"/>
          </a:xfrm>
          <a:prstGeom prst="rect">
            <a:avLst/>
          </a:prstGeom>
          <a:solidFill>
            <a:srgbClr val="F8EED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50976" y="4553712"/>
            <a:ext cx="10789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Aft>
                <a:spcPts val="0"/>
              </a:spcAft>
            </a:pPr>
            <a:r>
              <a:rPr sz="1000" b="1">
                <a:solidFill>
                  <a:srgbClr val="A76509"/>
                </a:solidFill>
                <a:latin typeface="PingFang SC"/>
              </a:rPr>
              <a:t>诚实边界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148840" y="4489704"/>
            <a:ext cx="8686800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  <a:spcAft>
                <a:spcPts val="0"/>
              </a:spcAft>
            </a:pPr>
            <a:r>
              <a:rPr sz="1019" b="1">
                <a:solidFill>
                  <a:srgbClr val="2B312F"/>
                </a:solidFill>
                <a:latin typeface="PingFang SC"/>
              </a:rPr>
              <a:t>Sample 仅覆盖 inspect_image；动态引用等值以 Timeline 展示；正式录制必须生成新 ID；
AgentTeams 外部 Live、目标容量与生产 SLO 不冒充本次 EditFlow 结论。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389888" y="5532120"/>
            <a:ext cx="9418320" cy="640080"/>
          </a:xfrm>
          <a:prstGeom prst="rect">
            <a:avLst/>
          </a:prstGeom>
          <a:solidFill>
            <a:srgbClr val="171B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627632" y="5715000"/>
            <a:ext cx="894283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  <a:spcAft>
                <a:spcPts val="0"/>
              </a:spcAft>
            </a:pPr>
            <a:r>
              <a:rPr sz="1200" b="1">
                <a:solidFill>
                  <a:srgbClr val="FFFFFF"/>
                </a:solidFill>
                <a:latin typeface="PingFang SC"/>
              </a:rPr>
              <a:t>Codex 负责思考和改变软件；AgentRig 负责让每次改变可复用、可执行、可追溯。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